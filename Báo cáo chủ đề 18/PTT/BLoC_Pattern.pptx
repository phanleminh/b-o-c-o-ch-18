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Barlow Condensed Heavy" charset="1" panose="00000A06000000000000"/>
      <p:regular r:id="rId38"/>
    </p:embeddedFont>
    <p:embeddedFont>
      <p:font typeface="Dancing Script" charset="1" panose="03080600040507000D00"/>
      <p:regular r:id="rId39"/>
    </p:embeddedFont>
    <p:embeddedFont>
      <p:font typeface="Poppins Bold Italics" charset="1" panose="00000800000000000000"/>
      <p:regular r:id="rId40"/>
    </p:embeddedFont>
    <p:embeddedFont>
      <p:font typeface="Poppins" charset="1" panose="00000500000000000000"/>
      <p:regular r:id="rId41"/>
    </p:embeddedFont>
    <p:embeddedFont>
      <p:font typeface="Poppins Bold" charset="1" panose="00000800000000000000"/>
      <p:regular r:id="rId42"/>
    </p:embeddedFont>
    <p:embeddedFont>
      <p:font typeface="Aileron Heavy" charset="1" panose="00000A00000000000000"/>
      <p:regular r:id="rId43"/>
    </p:embeddedFont>
    <p:embeddedFont>
      <p:font typeface="Aileron Ultra-Bold" charset="1" panose="00000A00000000000000"/>
      <p:regular r:id="rId44"/>
    </p:embeddedFont>
    <p:embeddedFont>
      <p:font typeface="Aileron" charset="1" panose="00000500000000000000"/>
      <p:regular r:id="rId45"/>
    </p:embeddedFont>
    <p:embeddedFont>
      <p:font typeface="Aileron Bold" charset="1" panose="00000800000000000000"/>
      <p:regular r:id="rId46"/>
    </p:embeddedFont>
    <p:embeddedFont>
      <p:font typeface="DejaVu Serif" charset="1" panose="02060603050605020204"/>
      <p:regular r:id="rId47"/>
    </p:embeddedFont>
    <p:embeddedFont>
      <p:font typeface="DejaVu Serif Bold" charset="1" panose="020608030506050202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png" Type="http://schemas.openxmlformats.org/officeDocument/2006/relationships/image"/><Relationship Id="rId9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https://viblo.asia/p/chinh-phuc-rxdart-flutter-trong-3-not-nhac-not-thu-nhat-stream-va-giai-thich-cac-thuat-ngu-Ljy5Vq6blra#_1-stream-la-gi-event-la-gi-1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6.png" Type="http://schemas.openxmlformats.org/officeDocument/2006/relationships/image"/><Relationship Id="rId9" Target="../embeddings/oleObject2.bin" Type="http://schemas.openxmlformats.org/officeDocument/2006/relationships/oleObjec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6521" y="3307946"/>
            <a:ext cx="2594369" cy="4588246"/>
            <a:chOff x="0" y="0"/>
            <a:chExt cx="683291" cy="1208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3291" cy="1208427"/>
            </a:xfrm>
            <a:custGeom>
              <a:avLst/>
              <a:gdLst/>
              <a:ahLst/>
              <a:cxnLst/>
              <a:rect r="r" b="b" t="t" l="l"/>
              <a:pathLst>
                <a:path h="1208427" w="683291">
                  <a:moveTo>
                    <a:pt x="152190" y="0"/>
                  </a:moveTo>
                  <a:lnTo>
                    <a:pt x="531100" y="0"/>
                  </a:lnTo>
                  <a:cubicBezTo>
                    <a:pt x="571464" y="0"/>
                    <a:pt x="610174" y="16034"/>
                    <a:pt x="638715" y="44576"/>
                  </a:cubicBezTo>
                  <a:cubicBezTo>
                    <a:pt x="667256" y="73117"/>
                    <a:pt x="683291" y="111827"/>
                    <a:pt x="683291" y="152190"/>
                  </a:cubicBezTo>
                  <a:lnTo>
                    <a:pt x="683291" y="1056237"/>
                  </a:lnTo>
                  <a:cubicBezTo>
                    <a:pt x="683291" y="1096600"/>
                    <a:pt x="667256" y="1135310"/>
                    <a:pt x="638715" y="1163852"/>
                  </a:cubicBezTo>
                  <a:cubicBezTo>
                    <a:pt x="610174" y="1192393"/>
                    <a:pt x="571464" y="1208427"/>
                    <a:pt x="531100" y="1208427"/>
                  </a:cubicBezTo>
                  <a:lnTo>
                    <a:pt x="152190" y="1208427"/>
                  </a:lnTo>
                  <a:cubicBezTo>
                    <a:pt x="111827" y="1208427"/>
                    <a:pt x="73117" y="1192393"/>
                    <a:pt x="44576" y="1163852"/>
                  </a:cubicBezTo>
                  <a:cubicBezTo>
                    <a:pt x="16034" y="1135310"/>
                    <a:pt x="0" y="1096600"/>
                    <a:pt x="0" y="1056237"/>
                  </a:cubicBezTo>
                  <a:lnTo>
                    <a:pt x="0" y="152190"/>
                  </a:lnTo>
                  <a:cubicBezTo>
                    <a:pt x="0" y="111827"/>
                    <a:pt x="16034" y="73117"/>
                    <a:pt x="44576" y="44576"/>
                  </a:cubicBezTo>
                  <a:cubicBezTo>
                    <a:pt x="73117" y="16034"/>
                    <a:pt x="111827" y="0"/>
                    <a:pt x="15219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83291" cy="1256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31511" y="1434222"/>
            <a:ext cx="305535" cy="302202"/>
          </a:xfrm>
          <a:custGeom>
            <a:avLst/>
            <a:gdLst/>
            <a:ahLst/>
            <a:cxnLst/>
            <a:rect r="r" b="b" t="t" l="l"/>
            <a:pathLst>
              <a:path h="302202" w="305535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-252231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43805" y="824861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12807" y="8799767"/>
            <a:ext cx="1483489" cy="458533"/>
          </a:xfrm>
          <a:custGeom>
            <a:avLst/>
            <a:gdLst/>
            <a:ahLst/>
            <a:cxnLst/>
            <a:rect r="r" b="b" t="t" l="l"/>
            <a:pathLst>
              <a:path h="458533" w="1483489">
                <a:moveTo>
                  <a:pt x="0" y="0"/>
                </a:moveTo>
                <a:lnTo>
                  <a:pt x="1483489" y="0"/>
                </a:lnTo>
                <a:lnTo>
                  <a:pt x="1483489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01645" y="1993537"/>
            <a:ext cx="10188006" cy="213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9"/>
              </a:lnSpc>
            </a:pPr>
            <a:r>
              <a:rPr lang="en-US" sz="7999" b="true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BLOC PATTERN - BUSINESS LOGIC COMPONENT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49367" y="398625"/>
            <a:ext cx="5725331" cy="50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4"/>
              </a:lnSpc>
            </a:pPr>
            <a:r>
              <a:rPr lang="en-US" sz="3952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LẬP TRÌNH ĐA NỀN TẢNG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12807" y="4490353"/>
            <a:ext cx="8954481" cy="384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Danh dách thành viên : 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Hồ Anh Nguyên - 22KTMT1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Phan Lê Minh - 22KTMT2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GVHD 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 TS. Nguyễn Duy Nhật Viễn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281233" y="1150343"/>
            <a:ext cx="1457788" cy="1457788"/>
          </a:xfrm>
          <a:custGeom>
            <a:avLst/>
            <a:gdLst/>
            <a:ahLst/>
            <a:cxnLst/>
            <a:rect r="r" b="b" t="t" l="l"/>
            <a:pathLst>
              <a:path h="1457788" w="1457788">
                <a:moveTo>
                  <a:pt x="0" y="0"/>
                </a:moveTo>
                <a:lnTo>
                  <a:pt x="1457788" y="0"/>
                </a:lnTo>
                <a:lnTo>
                  <a:pt x="1457788" y="1457788"/>
                </a:lnTo>
                <a:lnTo>
                  <a:pt x="0" y="14577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66265" y="4595128"/>
            <a:ext cx="3293035" cy="2963291"/>
          </a:xfrm>
          <a:custGeom>
            <a:avLst/>
            <a:gdLst/>
            <a:ahLst/>
            <a:cxnLst/>
            <a:rect r="r" b="b" t="t" l="l"/>
            <a:pathLst>
              <a:path h="2963291" w="3293035">
                <a:moveTo>
                  <a:pt x="0" y="0"/>
                </a:moveTo>
                <a:lnTo>
                  <a:pt x="3293035" y="0"/>
                </a:lnTo>
                <a:lnTo>
                  <a:pt x="3293035" y="2963291"/>
                </a:lnTo>
                <a:lnTo>
                  <a:pt x="0" y="29632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386" r="0" b="-438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494963" y="4579478"/>
            <a:ext cx="2508809" cy="2978941"/>
          </a:xfrm>
          <a:custGeom>
            <a:avLst/>
            <a:gdLst/>
            <a:ahLst/>
            <a:cxnLst/>
            <a:rect r="r" b="b" t="t" l="l"/>
            <a:pathLst>
              <a:path h="2978941" w="2508809">
                <a:moveTo>
                  <a:pt x="0" y="0"/>
                </a:moveTo>
                <a:lnTo>
                  <a:pt x="2508809" y="0"/>
                </a:lnTo>
                <a:lnTo>
                  <a:pt x="2508809" y="2978941"/>
                </a:lnTo>
                <a:lnTo>
                  <a:pt x="0" y="29789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69" t="0" r="-9369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3327" y="2341485"/>
            <a:ext cx="10140123" cy="770243"/>
            <a:chOff x="0" y="0"/>
            <a:chExt cx="2670650" cy="2028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8686" y="2398629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464224" y="0"/>
            <a:ext cx="4823776" cy="10287000"/>
            <a:chOff x="0" y="0"/>
            <a:chExt cx="747329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7329" cy="1593725"/>
            </a:xfrm>
            <a:custGeom>
              <a:avLst/>
              <a:gdLst/>
              <a:ahLst/>
              <a:cxnLst/>
              <a:rect r="r" b="b" t="t" l="l"/>
              <a:pathLst>
                <a:path h="1593725" w="747329">
                  <a:moveTo>
                    <a:pt x="0" y="0"/>
                  </a:moveTo>
                  <a:lnTo>
                    <a:pt x="747329" y="0"/>
                  </a:lnTo>
                  <a:lnTo>
                    <a:pt x="74732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262907" t="0" r="-3757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69414" y="593120"/>
            <a:ext cx="3965786" cy="89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111"/>
              </a:lnSpc>
              <a:spcBef>
                <a:spcPct val="0"/>
              </a:spcBef>
            </a:pPr>
            <a:r>
              <a:rPr lang="en-US" b="true" sz="5599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MỤC LỤC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3742" y="2436204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1. Tạo BLoC class với events và states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15470" y="839156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93327" y="4026129"/>
            <a:ext cx="10140123" cy="770243"/>
            <a:chOff x="0" y="0"/>
            <a:chExt cx="2670650" cy="2028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18686" y="4083272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13742" y="4120847"/>
            <a:ext cx="726885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2.  BlocBuilder và BlocListener widgets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93327" y="5701247"/>
            <a:ext cx="10140123" cy="770243"/>
            <a:chOff x="0" y="0"/>
            <a:chExt cx="2670650" cy="2028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18686" y="5758391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913742" y="5791094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3.Event handling và state transitions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93327" y="7385891"/>
            <a:ext cx="10140123" cy="770243"/>
            <a:chOff x="0" y="0"/>
            <a:chExt cx="2670650" cy="2028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718686" y="7443034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913742" y="7462091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4.Testing BLoC với bloc_test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1281" y="811717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3" y="0"/>
                </a:lnTo>
                <a:lnTo>
                  <a:pt x="5050543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8570" y="1175060"/>
            <a:ext cx="1346474" cy="13464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14471" y="1523374"/>
            <a:ext cx="434670" cy="649845"/>
          </a:xfrm>
          <a:custGeom>
            <a:avLst/>
            <a:gdLst/>
            <a:ahLst/>
            <a:cxnLst/>
            <a:rect r="r" b="b" t="t" l="l"/>
            <a:pathLst>
              <a:path h="649845" w="434670">
                <a:moveTo>
                  <a:pt x="0" y="0"/>
                </a:moveTo>
                <a:lnTo>
                  <a:pt x="434670" y="0"/>
                </a:lnTo>
                <a:lnTo>
                  <a:pt x="434670" y="649846"/>
                </a:lnTo>
                <a:lnTo>
                  <a:pt x="0" y="649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1800" y="2864875"/>
            <a:ext cx="1483489" cy="458533"/>
          </a:xfrm>
          <a:custGeom>
            <a:avLst/>
            <a:gdLst/>
            <a:ahLst/>
            <a:cxnLst/>
            <a:rect r="r" b="b" t="t" l="l"/>
            <a:pathLst>
              <a:path h="458533" w="1483489">
                <a:moveTo>
                  <a:pt x="0" y="0"/>
                </a:moveTo>
                <a:lnTo>
                  <a:pt x="1483489" y="0"/>
                </a:lnTo>
                <a:lnTo>
                  <a:pt x="1483489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56440" y="258457"/>
            <a:ext cx="10140123" cy="770243"/>
            <a:chOff x="0" y="0"/>
            <a:chExt cx="2670650" cy="2028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1800" y="315600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0" y="0"/>
                </a:lnTo>
                <a:lnTo>
                  <a:pt x="665700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60923" y="3323408"/>
            <a:ext cx="7234869" cy="5001103"/>
          </a:xfrm>
          <a:custGeom>
            <a:avLst/>
            <a:gdLst/>
            <a:ahLst/>
            <a:cxnLst/>
            <a:rect r="r" b="b" t="t" l="l"/>
            <a:pathLst>
              <a:path h="5001103" w="7234869">
                <a:moveTo>
                  <a:pt x="0" y="0"/>
                </a:moveTo>
                <a:lnTo>
                  <a:pt x="7234869" y="0"/>
                </a:lnTo>
                <a:lnTo>
                  <a:pt x="7234869" y="5001103"/>
                </a:lnTo>
                <a:lnTo>
                  <a:pt x="0" y="50011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8570" y="3447674"/>
            <a:ext cx="7702849" cy="866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97"/>
              </a:lnSpc>
            </a:pPr>
          </a:p>
          <a:p>
            <a:pPr algn="just" marL="662707" indent="-331354" lvl="1">
              <a:lnSpc>
                <a:spcPts val="4297"/>
              </a:lnSpc>
              <a:buFont typeface="Arial"/>
              <a:buChar char="•"/>
            </a:pP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BLoC</a:t>
            </a: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là mộ</a:t>
            </a: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mô hìn</a:t>
            </a: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h</a:t>
            </a: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k</a:t>
            </a: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iế</a:t>
            </a: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trúc t</a:t>
            </a: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rong Flutter giúp :</a:t>
            </a:r>
          </a:p>
          <a:p>
            <a:pPr algn="just">
              <a:lnSpc>
                <a:spcPts val="4297"/>
              </a:lnSpc>
            </a:pPr>
          </a:p>
          <a:p>
            <a:pPr algn="just">
              <a:lnSpc>
                <a:spcPts val="4297"/>
              </a:lnSpc>
            </a:pP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→  Tách biệt logic nghiệp vụ (business logic) khỏi giao diện người dùng (UI)</a:t>
            </a:r>
          </a:p>
          <a:p>
            <a:pPr algn="just">
              <a:lnSpc>
                <a:spcPts val="4297"/>
              </a:lnSpc>
            </a:pPr>
          </a:p>
          <a:p>
            <a:pPr algn="just">
              <a:lnSpc>
                <a:spcPts val="4297"/>
              </a:lnSpc>
            </a:pPr>
            <a:r>
              <a:rPr lang="en-US" sz="306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→ Giúp mã nguồn sạch, dễ mở rộng và dễ kiểm thử</a:t>
            </a:r>
          </a:p>
          <a:p>
            <a:pPr algn="just">
              <a:lnSpc>
                <a:spcPts val="4297"/>
              </a:lnSpc>
            </a:pPr>
          </a:p>
          <a:p>
            <a:pPr algn="just">
              <a:lnSpc>
                <a:spcPts val="4297"/>
              </a:lnSpc>
            </a:pPr>
          </a:p>
          <a:p>
            <a:pPr algn="just">
              <a:lnSpc>
                <a:spcPts val="4297"/>
              </a:lnSpc>
            </a:pPr>
          </a:p>
          <a:p>
            <a:pPr algn="just">
              <a:lnSpc>
                <a:spcPts val="4297"/>
              </a:lnSpc>
            </a:pPr>
          </a:p>
          <a:p>
            <a:pPr algn="just">
              <a:lnSpc>
                <a:spcPts val="4297"/>
              </a:lnSpc>
            </a:pPr>
          </a:p>
          <a:p>
            <a:pPr algn="just">
              <a:lnSpc>
                <a:spcPts val="4297"/>
              </a:lnSpc>
            </a:pPr>
          </a:p>
          <a:p>
            <a:pPr algn="just">
              <a:lnSpc>
                <a:spcPts val="429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89505" y="1379470"/>
            <a:ext cx="9673994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1.1 Khái niệm về BLoC Pattern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5043" y="348303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1. Tạo BLoC class với events và states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88013" y="2759659"/>
            <a:ext cx="3071278" cy="60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72"/>
              </a:lnSpc>
            </a:pPr>
            <a:r>
              <a:rPr lang="en-US" sz="3551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BLoC là gì 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1281" y="811717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3" y="0"/>
                </a:lnTo>
                <a:lnTo>
                  <a:pt x="5050543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9478" y="568711"/>
            <a:ext cx="1346474" cy="13464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5380" y="917025"/>
            <a:ext cx="434670" cy="649845"/>
          </a:xfrm>
          <a:custGeom>
            <a:avLst/>
            <a:gdLst/>
            <a:ahLst/>
            <a:cxnLst/>
            <a:rect r="r" b="b" t="t" l="l"/>
            <a:pathLst>
              <a:path h="649845" w="434670">
                <a:moveTo>
                  <a:pt x="0" y="0"/>
                </a:moveTo>
                <a:lnTo>
                  <a:pt x="434670" y="0"/>
                </a:lnTo>
                <a:lnTo>
                  <a:pt x="434670" y="649845"/>
                </a:lnTo>
                <a:lnTo>
                  <a:pt x="0" y="649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8406" y="2563756"/>
            <a:ext cx="1483489" cy="458533"/>
          </a:xfrm>
          <a:custGeom>
            <a:avLst/>
            <a:gdLst/>
            <a:ahLst/>
            <a:cxnLst/>
            <a:rect r="r" b="b" t="t" l="l"/>
            <a:pathLst>
              <a:path h="458533" w="1483489">
                <a:moveTo>
                  <a:pt x="0" y="0"/>
                </a:moveTo>
                <a:lnTo>
                  <a:pt x="1483490" y="0"/>
                </a:lnTo>
                <a:lnTo>
                  <a:pt x="1483490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1998020" y="4019174"/>
          <a:ext cx="7586157" cy="4274588"/>
        </p:xfrm>
        <a:graphic>
          <a:graphicData uri="http://schemas.openxmlformats.org/presentationml/2006/ole">
            <p:oleObj imgW="9105900" imgH="57912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810413" y="773120"/>
            <a:ext cx="9673994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1.1 Khái niệm về BLoC Pattern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84620" y="2458540"/>
            <a:ext cx="4262790" cy="60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72"/>
              </a:lnSpc>
            </a:pPr>
            <a:r>
              <a:rPr lang="en-US" sz="3551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Vì sao cần BLoC 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1281" y="811717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3" y="0"/>
                </a:lnTo>
                <a:lnTo>
                  <a:pt x="5050543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9478" y="568711"/>
            <a:ext cx="1346474" cy="13464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5380" y="917025"/>
            <a:ext cx="434670" cy="649845"/>
          </a:xfrm>
          <a:custGeom>
            <a:avLst/>
            <a:gdLst/>
            <a:ahLst/>
            <a:cxnLst/>
            <a:rect r="r" b="b" t="t" l="l"/>
            <a:pathLst>
              <a:path h="649845" w="434670">
                <a:moveTo>
                  <a:pt x="0" y="0"/>
                </a:moveTo>
                <a:lnTo>
                  <a:pt x="434670" y="0"/>
                </a:lnTo>
                <a:lnTo>
                  <a:pt x="434670" y="649845"/>
                </a:lnTo>
                <a:lnTo>
                  <a:pt x="0" y="649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97914" y="6054045"/>
            <a:ext cx="10822973" cy="4126259"/>
          </a:xfrm>
          <a:custGeom>
            <a:avLst/>
            <a:gdLst/>
            <a:ahLst/>
            <a:cxnLst/>
            <a:rect r="r" b="b" t="t" l="l"/>
            <a:pathLst>
              <a:path h="4126259" w="10822973">
                <a:moveTo>
                  <a:pt x="0" y="0"/>
                </a:moveTo>
                <a:lnTo>
                  <a:pt x="10822973" y="0"/>
                </a:lnTo>
                <a:lnTo>
                  <a:pt x="10822973" y="4126259"/>
                </a:lnTo>
                <a:lnTo>
                  <a:pt x="0" y="4126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10413" y="773120"/>
            <a:ext cx="9673994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1.2 Event và State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9478" y="1987694"/>
            <a:ext cx="16661589" cy="374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6775" indent="-383387" lvl="1">
              <a:lnSpc>
                <a:spcPts val="4972"/>
              </a:lnSpc>
              <a:buFont typeface="Arial"/>
              <a:buChar char="•"/>
            </a:pPr>
            <a:r>
              <a:rPr lang="en-US" b="true" sz="3551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Event : </a:t>
            </a: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hành động người dùng (nhấn nút, nhập text, tải dữ liệu, ...)</a:t>
            </a:r>
          </a:p>
          <a:p>
            <a:pPr algn="just" marL="766775" indent="-383387" lvl="1">
              <a:lnSpc>
                <a:spcPts val="4972"/>
              </a:lnSpc>
              <a:buFont typeface="Arial"/>
              <a:buChar char="•"/>
            </a:pPr>
            <a:r>
              <a:rPr lang="en-US" b="true" sz="3551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State : </a:t>
            </a: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kết quả hoặc dữ liệu hiển thị trên giao diện (UI).</a:t>
            </a:r>
          </a:p>
          <a:p>
            <a:pPr algn="just" marL="766775" indent="-383387" lvl="1">
              <a:lnSpc>
                <a:spcPts val="4972"/>
              </a:lnSpc>
              <a:buFont typeface="Arial"/>
              <a:buChar char="•"/>
            </a:pPr>
            <a:r>
              <a:rPr lang="en-US" b="true" sz="3551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Stream : </a:t>
            </a: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được sử dụng để truyền tải các state từ BloC đến các widget và cập nhật giao diện</a:t>
            </a:r>
          </a:p>
          <a:p>
            <a:pPr algn="just" marL="766775" indent="-383387" lvl="1">
              <a:lnSpc>
                <a:spcPts val="4972"/>
              </a:lnSpc>
              <a:buFont typeface="Arial"/>
              <a:buChar char="•"/>
            </a:pPr>
            <a:r>
              <a:rPr lang="en-US" b="true" sz="3551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Mô hình đường đi của BLoc :</a:t>
            </a: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Truyền </a:t>
            </a: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  <a:hlinkClick r:id="rId7" tooltip="https://viblo.asia/p/chinh-phuc-rxdart-flutter-trong-3-not-nhac-not-thu-nhat-stream-va-giai-thich-cac-thuat-ngu-Ljy5Vq6blra#_1-stream-la-gi-event-la-gi-1"/>
              </a:rPr>
              <a:t>event</a:t>
            </a: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vào bloc, bloc xử lý và cho ra output là State của UI.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1281" y="811717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3" y="0"/>
                </a:lnTo>
                <a:lnTo>
                  <a:pt x="5050543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9478" y="568711"/>
            <a:ext cx="1346474" cy="13464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5380" y="917025"/>
            <a:ext cx="434670" cy="649845"/>
          </a:xfrm>
          <a:custGeom>
            <a:avLst/>
            <a:gdLst/>
            <a:ahLst/>
            <a:cxnLst/>
            <a:rect r="r" b="b" t="t" l="l"/>
            <a:pathLst>
              <a:path h="649845" w="434670">
                <a:moveTo>
                  <a:pt x="0" y="0"/>
                </a:moveTo>
                <a:lnTo>
                  <a:pt x="434670" y="0"/>
                </a:lnTo>
                <a:lnTo>
                  <a:pt x="434670" y="649845"/>
                </a:lnTo>
                <a:lnTo>
                  <a:pt x="0" y="649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64591" y="5629303"/>
            <a:ext cx="12491363" cy="3138455"/>
          </a:xfrm>
          <a:custGeom>
            <a:avLst/>
            <a:gdLst/>
            <a:ahLst/>
            <a:cxnLst/>
            <a:rect r="r" b="b" t="t" l="l"/>
            <a:pathLst>
              <a:path h="3138455" w="12491363">
                <a:moveTo>
                  <a:pt x="0" y="0"/>
                </a:moveTo>
                <a:lnTo>
                  <a:pt x="12491363" y="0"/>
                </a:lnTo>
                <a:lnTo>
                  <a:pt x="12491363" y="3138455"/>
                </a:lnTo>
                <a:lnTo>
                  <a:pt x="0" y="31384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10413" y="773120"/>
            <a:ext cx="9673994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1.3 Cấu trúc file BLoC cơ bản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9478" y="2323988"/>
            <a:ext cx="16661589" cy="311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6775" indent="-383387" lvl="1">
              <a:lnSpc>
                <a:spcPts val="4972"/>
              </a:lnSpc>
              <a:buFont typeface="Arial"/>
              <a:buChar char="•"/>
            </a:pP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Thông thường mỗi Bloc sẽ có file chính :   </a:t>
            </a:r>
          </a:p>
          <a:p>
            <a:pPr algn="just">
              <a:lnSpc>
                <a:spcPts val="4972"/>
              </a:lnSpc>
            </a:pP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        + </a:t>
            </a:r>
            <a:r>
              <a:rPr lang="en-US" sz="3551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app_event.dart</a:t>
            </a: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3551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: </a:t>
            </a: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Định nghĩa các sự kiện tổng quát</a:t>
            </a:r>
          </a:p>
          <a:p>
            <a:pPr algn="just">
              <a:lnSpc>
                <a:spcPts val="4972"/>
              </a:lnSpc>
            </a:pP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        + </a:t>
            </a:r>
            <a:r>
              <a:rPr lang="en-US" sz="3551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app_state.dart : </a:t>
            </a: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Định nghĩa các trạng thái tổng quát</a:t>
            </a:r>
          </a:p>
          <a:p>
            <a:pPr algn="just">
              <a:lnSpc>
                <a:spcPts val="4972"/>
              </a:lnSpc>
            </a:pP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        +</a:t>
            </a:r>
            <a:r>
              <a:rPr lang="en-US" sz="3551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 app_bloc.dart : </a:t>
            </a:r>
            <a:r>
              <a:rPr lang="en-US" sz="35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Xử lý logic tổng quát</a:t>
            </a:r>
          </a:p>
          <a:p>
            <a:pPr algn="just">
              <a:lnSpc>
                <a:spcPts val="497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1281" y="811717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3" y="0"/>
                </a:lnTo>
                <a:lnTo>
                  <a:pt x="5050543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8570" y="192356"/>
            <a:ext cx="1346474" cy="13464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14471" y="540670"/>
            <a:ext cx="434670" cy="649845"/>
          </a:xfrm>
          <a:custGeom>
            <a:avLst/>
            <a:gdLst/>
            <a:ahLst/>
            <a:cxnLst/>
            <a:rect r="r" b="b" t="t" l="l"/>
            <a:pathLst>
              <a:path h="649845" w="434670">
                <a:moveTo>
                  <a:pt x="0" y="0"/>
                </a:moveTo>
                <a:lnTo>
                  <a:pt x="434670" y="0"/>
                </a:lnTo>
                <a:lnTo>
                  <a:pt x="434670" y="649846"/>
                </a:lnTo>
                <a:lnTo>
                  <a:pt x="0" y="649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41763" y="3063471"/>
            <a:ext cx="8274790" cy="4988535"/>
          </a:xfrm>
          <a:custGeom>
            <a:avLst/>
            <a:gdLst/>
            <a:ahLst/>
            <a:cxnLst/>
            <a:rect r="r" b="b" t="t" l="l"/>
            <a:pathLst>
              <a:path h="4988535" w="8274790">
                <a:moveTo>
                  <a:pt x="0" y="0"/>
                </a:moveTo>
                <a:lnTo>
                  <a:pt x="8274790" y="0"/>
                </a:lnTo>
                <a:lnTo>
                  <a:pt x="8274790" y="4988535"/>
                </a:lnTo>
                <a:lnTo>
                  <a:pt x="0" y="49885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48" t="0" r="-44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89505" y="396766"/>
            <a:ext cx="9673994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1.3 Cấu trúc file BLoC cơ bản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5043" y="1453105"/>
            <a:ext cx="5694250" cy="7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52"/>
              </a:lnSpc>
            </a:pPr>
            <a:r>
              <a:rPr lang="en-US" sz="4251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🧩theme_event.dart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472" y="3106961"/>
            <a:ext cx="8346421" cy="494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1167" indent="-340584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abstract class ThemeEvent → định nghĩa cơ sở cho tất cả event.</a:t>
            </a:r>
          </a:p>
          <a:p>
            <a:pPr algn="just">
              <a:lnSpc>
                <a:spcPts val="4417"/>
              </a:lnSpc>
            </a:pPr>
          </a:p>
          <a:p>
            <a:pPr algn="just" marL="681167" indent="-340584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ChangeThemeEvent → event gửi khi người dùng chọn theme mới.</a:t>
            </a:r>
          </a:p>
          <a:p>
            <a:pPr algn="just">
              <a:lnSpc>
                <a:spcPts val="4417"/>
              </a:lnSpc>
            </a:pPr>
          </a:p>
          <a:p>
            <a:pPr algn="just" marL="681167" indent="-340584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enum AppTheme { light, dark, blue } → định nghĩa các lựa chọn theme.</a:t>
            </a:r>
          </a:p>
          <a:p>
            <a:pPr algn="just">
              <a:lnSpc>
                <a:spcPts val="441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1130" y="8910693"/>
            <a:ext cx="4433740" cy="4433740"/>
          </a:xfrm>
          <a:custGeom>
            <a:avLst/>
            <a:gdLst/>
            <a:ahLst/>
            <a:cxnLst/>
            <a:rect r="r" b="b" t="t" l="l"/>
            <a:pathLst>
              <a:path h="4433740" w="4433740">
                <a:moveTo>
                  <a:pt x="0" y="0"/>
                </a:moveTo>
                <a:lnTo>
                  <a:pt x="4433740" y="0"/>
                </a:lnTo>
                <a:lnTo>
                  <a:pt x="4433740" y="4433740"/>
                </a:lnTo>
                <a:lnTo>
                  <a:pt x="0" y="4433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8570" y="192356"/>
            <a:ext cx="1346474" cy="13464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14471" y="540670"/>
            <a:ext cx="434670" cy="649845"/>
          </a:xfrm>
          <a:custGeom>
            <a:avLst/>
            <a:gdLst/>
            <a:ahLst/>
            <a:cxnLst/>
            <a:rect r="r" b="b" t="t" l="l"/>
            <a:pathLst>
              <a:path h="649845" w="434670">
                <a:moveTo>
                  <a:pt x="0" y="0"/>
                </a:moveTo>
                <a:lnTo>
                  <a:pt x="434670" y="0"/>
                </a:lnTo>
                <a:lnTo>
                  <a:pt x="434670" y="649846"/>
                </a:lnTo>
                <a:lnTo>
                  <a:pt x="0" y="649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11658" y="2642719"/>
            <a:ext cx="7609073" cy="6267974"/>
          </a:xfrm>
          <a:custGeom>
            <a:avLst/>
            <a:gdLst/>
            <a:ahLst/>
            <a:cxnLst/>
            <a:rect r="r" b="b" t="t" l="l"/>
            <a:pathLst>
              <a:path h="6267974" w="7609073">
                <a:moveTo>
                  <a:pt x="0" y="0"/>
                </a:moveTo>
                <a:lnTo>
                  <a:pt x="7609073" y="0"/>
                </a:lnTo>
                <a:lnTo>
                  <a:pt x="7609073" y="6267974"/>
                </a:lnTo>
                <a:lnTo>
                  <a:pt x="0" y="6267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89505" y="396766"/>
            <a:ext cx="9673994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1.3 Cấu trúc file BLoC cơ bản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5043" y="1453105"/>
            <a:ext cx="5464255" cy="7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52"/>
              </a:lnSpc>
            </a:pPr>
            <a:r>
              <a:rPr lang="en-US" sz="4251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🧩theme_state.dart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8570" y="2576044"/>
            <a:ext cx="8662082" cy="549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1167" indent="-340584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themeData → lưu Theme hiện tại cho MaterialApp.</a:t>
            </a:r>
          </a:p>
          <a:p>
            <a:pPr algn="just">
              <a:lnSpc>
                <a:spcPts val="4417"/>
              </a:lnSpc>
            </a:pPr>
          </a:p>
          <a:p>
            <a:pPr algn="just" marL="681167" indent="-340584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currentTheme → lưu enum AppTheme để biết đang ở theme nào.</a:t>
            </a:r>
          </a:p>
          <a:p>
            <a:pPr algn="just">
              <a:lnSpc>
                <a:spcPts val="4417"/>
              </a:lnSpc>
            </a:pPr>
          </a:p>
          <a:p>
            <a:pPr algn="just" marL="681167" indent="-340584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co</a:t>
            </a:r>
            <a:r>
              <a:rPr lang="en-US" sz="315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pyWith → tạo state mới từ state cũ khi event được xử lý (giữ nguyên state cũ nếu không thay đổi).</a:t>
            </a:r>
          </a:p>
          <a:p>
            <a:pPr algn="just">
              <a:lnSpc>
                <a:spcPts val="441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1130" y="8910693"/>
            <a:ext cx="4433740" cy="4433740"/>
          </a:xfrm>
          <a:custGeom>
            <a:avLst/>
            <a:gdLst/>
            <a:ahLst/>
            <a:cxnLst/>
            <a:rect r="r" b="b" t="t" l="l"/>
            <a:pathLst>
              <a:path h="4433740" w="4433740">
                <a:moveTo>
                  <a:pt x="0" y="0"/>
                </a:moveTo>
                <a:lnTo>
                  <a:pt x="4433740" y="0"/>
                </a:lnTo>
                <a:lnTo>
                  <a:pt x="4433740" y="4433740"/>
                </a:lnTo>
                <a:lnTo>
                  <a:pt x="0" y="4433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8570" y="192356"/>
            <a:ext cx="1346474" cy="13464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14471" y="540670"/>
            <a:ext cx="434670" cy="649845"/>
          </a:xfrm>
          <a:custGeom>
            <a:avLst/>
            <a:gdLst/>
            <a:ahLst/>
            <a:cxnLst/>
            <a:rect r="r" b="b" t="t" l="l"/>
            <a:pathLst>
              <a:path h="649845" w="434670">
                <a:moveTo>
                  <a:pt x="0" y="0"/>
                </a:moveTo>
                <a:lnTo>
                  <a:pt x="434670" y="0"/>
                </a:lnTo>
                <a:lnTo>
                  <a:pt x="434670" y="649846"/>
                </a:lnTo>
                <a:lnTo>
                  <a:pt x="0" y="649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75208" y="2819035"/>
            <a:ext cx="8256188" cy="5253000"/>
          </a:xfrm>
          <a:custGeom>
            <a:avLst/>
            <a:gdLst/>
            <a:ahLst/>
            <a:cxnLst/>
            <a:rect r="r" b="b" t="t" l="l"/>
            <a:pathLst>
              <a:path h="5253000" w="8256188">
                <a:moveTo>
                  <a:pt x="0" y="0"/>
                </a:moveTo>
                <a:lnTo>
                  <a:pt x="8256189" y="0"/>
                </a:lnTo>
                <a:lnTo>
                  <a:pt x="8256189" y="5253000"/>
                </a:lnTo>
                <a:lnTo>
                  <a:pt x="0" y="5253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4471" y="8684668"/>
            <a:ext cx="11301259" cy="452050"/>
          </a:xfrm>
          <a:custGeom>
            <a:avLst/>
            <a:gdLst/>
            <a:ahLst/>
            <a:cxnLst/>
            <a:rect r="r" b="b" t="t" l="l"/>
            <a:pathLst>
              <a:path h="452050" w="11301259">
                <a:moveTo>
                  <a:pt x="0" y="0"/>
                </a:moveTo>
                <a:lnTo>
                  <a:pt x="11301259" y="0"/>
                </a:lnTo>
                <a:lnTo>
                  <a:pt x="11301259" y="452050"/>
                </a:lnTo>
                <a:lnTo>
                  <a:pt x="0" y="45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9505" y="396766"/>
            <a:ext cx="9673994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1.3 Cấu trúc file BLoC cơ bản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5043" y="1453105"/>
            <a:ext cx="5464255" cy="7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52"/>
              </a:lnSpc>
            </a:pPr>
            <a:r>
              <a:rPr lang="en-US" sz="4251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🧩theme_bloc.dart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8570" y="2939675"/>
            <a:ext cx="8662082" cy="494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1167" indent="-340584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on&lt;ChangeThemeEvent&gt; → lắng nghe event do UI gửi.</a:t>
            </a:r>
          </a:p>
          <a:p>
            <a:pPr algn="just">
              <a:lnSpc>
                <a:spcPts val="4417"/>
              </a:lnSpc>
            </a:pPr>
          </a:p>
          <a:p>
            <a:pPr algn="just" marL="681167" indent="-340584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switch (event.theme) → xác định theme mới dựa trên enum.</a:t>
            </a:r>
          </a:p>
          <a:p>
            <a:pPr algn="just">
              <a:lnSpc>
                <a:spcPts val="4417"/>
              </a:lnSpc>
            </a:pPr>
          </a:p>
          <a:p>
            <a:pPr algn="just" marL="681167" indent="-340584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emit(state.co</a:t>
            </a:r>
            <a:r>
              <a:rPr lang="en-US" sz="3155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pyWith(...)) → cập nhật state mới, UI sẽ rebuild tự động.</a:t>
            </a:r>
          </a:p>
          <a:p>
            <a:pPr algn="just">
              <a:lnSpc>
                <a:spcPts val="441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1130" y="8910693"/>
            <a:ext cx="4433740" cy="4433740"/>
          </a:xfrm>
          <a:custGeom>
            <a:avLst/>
            <a:gdLst/>
            <a:ahLst/>
            <a:cxnLst/>
            <a:rect r="r" b="b" t="t" l="l"/>
            <a:pathLst>
              <a:path h="4433740" w="4433740">
                <a:moveTo>
                  <a:pt x="0" y="0"/>
                </a:moveTo>
                <a:lnTo>
                  <a:pt x="4433740" y="0"/>
                </a:lnTo>
                <a:lnTo>
                  <a:pt x="4433740" y="4433740"/>
                </a:lnTo>
                <a:lnTo>
                  <a:pt x="0" y="4433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8570" y="192356"/>
            <a:ext cx="1346474" cy="13464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14471" y="540670"/>
            <a:ext cx="434670" cy="649845"/>
          </a:xfrm>
          <a:custGeom>
            <a:avLst/>
            <a:gdLst/>
            <a:ahLst/>
            <a:cxnLst/>
            <a:rect r="r" b="b" t="t" l="l"/>
            <a:pathLst>
              <a:path h="649845" w="434670">
                <a:moveTo>
                  <a:pt x="0" y="0"/>
                </a:moveTo>
                <a:lnTo>
                  <a:pt x="434670" y="0"/>
                </a:lnTo>
                <a:lnTo>
                  <a:pt x="434670" y="649846"/>
                </a:lnTo>
                <a:lnTo>
                  <a:pt x="0" y="649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32436" y="2553735"/>
            <a:ext cx="4561117" cy="6356958"/>
          </a:xfrm>
          <a:custGeom>
            <a:avLst/>
            <a:gdLst/>
            <a:ahLst/>
            <a:cxnLst/>
            <a:rect r="r" b="b" t="t" l="l"/>
            <a:pathLst>
              <a:path h="6356958" w="4561117">
                <a:moveTo>
                  <a:pt x="0" y="0"/>
                </a:moveTo>
                <a:lnTo>
                  <a:pt x="4561117" y="0"/>
                </a:lnTo>
                <a:lnTo>
                  <a:pt x="456111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1806" y="2553735"/>
            <a:ext cx="4561117" cy="6356958"/>
          </a:xfrm>
          <a:custGeom>
            <a:avLst/>
            <a:gdLst/>
            <a:ahLst/>
            <a:cxnLst/>
            <a:rect r="r" b="b" t="t" l="l"/>
            <a:pathLst>
              <a:path h="6356958" w="4561117">
                <a:moveTo>
                  <a:pt x="0" y="0"/>
                </a:moveTo>
                <a:lnTo>
                  <a:pt x="4561118" y="0"/>
                </a:lnTo>
                <a:lnTo>
                  <a:pt x="456111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31828" y="2553735"/>
            <a:ext cx="4521386" cy="6356958"/>
          </a:xfrm>
          <a:custGeom>
            <a:avLst/>
            <a:gdLst/>
            <a:ahLst/>
            <a:cxnLst/>
            <a:rect r="r" b="b" t="t" l="l"/>
            <a:pathLst>
              <a:path h="6356958" w="4521386">
                <a:moveTo>
                  <a:pt x="0" y="0"/>
                </a:moveTo>
                <a:lnTo>
                  <a:pt x="4521387" y="0"/>
                </a:lnTo>
                <a:lnTo>
                  <a:pt x="452138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89505" y="396766"/>
            <a:ext cx="13625719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1.4 Demo BLoC class với events và states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5043" y="1453105"/>
            <a:ext cx="2746137" cy="7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52"/>
              </a:lnSpc>
            </a:pPr>
            <a:r>
              <a:rPr lang="en-US" sz="425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📱</a:t>
            </a:r>
            <a:r>
              <a:rPr lang="en-US" sz="4251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Demo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62728" y="811717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9784" y="1301501"/>
            <a:ext cx="1224291" cy="12242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6311" y="1627372"/>
            <a:ext cx="406663" cy="607974"/>
          </a:xfrm>
          <a:custGeom>
            <a:avLst/>
            <a:gdLst/>
            <a:ahLst/>
            <a:cxnLst/>
            <a:rect r="r" b="b" t="t" l="l"/>
            <a:pathLst>
              <a:path h="607974" w="406663">
                <a:moveTo>
                  <a:pt x="0" y="0"/>
                </a:moveTo>
                <a:lnTo>
                  <a:pt x="406663" y="0"/>
                </a:lnTo>
                <a:lnTo>
                  <a:pt x="406663" y="607974"/>
                </a:lnTo>
                <a:lnTo>
                  <a:pt x="0" y="607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4135" y="1520645"/>
            <a:ext cx="14090433" cy="75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5"/>
              </a:lnSpc>
            </a:pPr>
            <a:r>
              <a:rPr lang="en-US" sz="4799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2.1 BlocBuilder - Tái dựng UI dựa trên state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13720" y="258457"/>
            <a:ext cx="10140123" cy="770243"/>
            <a:chOff x="0" y="0"/>
            <a:chExt cx="2670650" cy="2028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39079" y="315600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34135" y="353175"/>
            <a:ext cx="726885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2.  BlocBuilder và BlocListener widgets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886" y="2992517"/>
            <a:ext cx="14976417" cy="566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8"/>
              </a:lnSpc>
            </a:pPr>
          </a:p>
          <a:p>
            <a:pPr algn="just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BlocBu</a:t>
            </a:r>
            <a:r>
              <a:rPr lang="en-US" b="true" sz="34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ilder : </a:t>
            </a:r>
          </a:p>
          <a:p>
            <a:pPr algn="just">
              <a:lnSpc>
                <a:spcPts val="3018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→  </a:t>
            </a: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Chức năng :</a:t>
            </a: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Cập nhật giao diện dựa trên trạng thái mới nhất của bloc.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→ </a:t>
            </a: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Cách dùng :</a:t>
            </a: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 Sử dụng khi muốn thay đổi trực quan trên màn hình, ví dụ: hiển thị văn bản khác, thay đổi màu sắc.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→ </a:t>
            </a: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Ưu điểm: </a:t>
            </a: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Giúp giao diện luôn đồng bộ với trạng thái của bloc một cách tự động. </a:t>
            </a:r>
          </a:p>
          <a:p>
            <a:pPr algn="just">
              <a:lnSpc>
                <a:spcPts val="3018"/>
              </a:lnSpc>
            </a:pPr>
          </a:p>
          <a:p>
            <a:pPr algn="just">
              <a:lnSpc>
                <a:spcPts val="3018"/>
              </a:lnSpc>
            </a:pPr>
          </a:p>
          <a:p>
            <a:pPr algn="just">
              <a:lnSpc>
                <a:spcPts val="3018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62728" y="811717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9784" y="1301501"/>
            <a:ext cx="1224291" cy="12242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6311" y="1627372"/>
            <a:ext cx="406663" cy="607974"/>
          </a:xfrm>
          <a:custGeom>
            <a:avLst/>
            <a:gdLst/>
            <a:ahLst/>
            <a:cxnLst/>
            <a:rect r="r" b="b" t="t" l="l"/>
            <a:pathLst>
              <a:path h="607974" w="406663">
                <a:moveTo>
                  <a:pt x="0" y="0"/>
                </a:moveTo>
                <a:lnTo>
                  <a:pt x="406663" y="0"/>
                </a:lnTo>
                <a:lnTo>
                  <a:pt x="406663" y="607974"/>
                </a:lnTo>
                <a:lnTo>
                  <a:pt x="0" y="607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13720" y="258457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39079" y="315600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60190" y="3922682"/>
            <a:ext cx="7597443" cy="3523747"/>
          </a:xfrm>
          <a:custGeom>
            <a:avLst/>
            <a:gdLst/>
            <a:ahLst/>
            <a:cxnLst/>
            <a:rect r="r" b="b" t="t" l="l"/>
            <a:pathLst>
              <a:path h="3523747" w="7597443">
                <a:moveTo>
                  <a:pt x="0" y="0"/>
                </a:moveTo>
                <a:lnTo>
                  <a:pt x="7597443" y="0"/>
                </a:lnTo>
                <a:lnTo>
                  <a:pt x="7597443" y="3523747"/>
                </a:lnTo>
                <a:lnTo>
                  <a:pt x="0" y="35237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34135" y="1520645"/>
            <a:ext cx="14090433" cy="75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5"/>
              </a:lnSpc>
            </a:pPr>
            <a:r>
              <a:rPr lang="en-US" sz="4799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2.1 BlocBuilder - Tái dựng UI dựa trên state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4135" y="353175"/>
            <a:ext cx="726885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2.  BlocBuilder và BlocListener widgets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8834" y="3328670"/>
            <a:ext cx="9475011" cy="592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BlocBu</a:t>
            </a: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ilder&lt;ThemeBloc,ThemeState&gt;: </a:t>
            </a:r>
            <a:r>
              <a:rPr lang="en-US" sz="27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Lắng nghe ThemeBloc, nhận state mới khi emit.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builder: (context, state) { … }: </a:t>
            </a:r>
            <a:r>
              <a:rPr lang="en-US" sz="27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Gọi lại UI mỗi khi state thay đổi.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MaterialApp(): </a:t>
            </a:r>
            <a:r>
              <a:rPr lang="en-US" sz="27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Lấy theme từ state.themeData, đổi màu app ngay lập tức.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home:</a:t>
            </a:r>
            <a:r>
              <a:rPr lang="en-US" sz="27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const ThemeHome(): Widget home giữ nguyên, chỉ theme thay đổi.</a:t>
            </a: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9079" y="632426"/>
            <a:ext cx="1224291" cy="12242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5606" y="958297"/>
            <a:ext cx="406663" cy="607974"/>
          </a:xfrm>
          <a:custGeom>
            <a:avLst/>
            <a:gdLst/>
            <a:ahLst/>
            <a:cxnLst/>
            <a:rect r="r" b="b" t="t" l="l"/>
            <a:pathLst>
              <a:path h="607974" w="406663">
                <a:moveTo>
                  <a:pt x="0" y="0"/>
                </a:moveTo>
                <a:lnTo>
                  <a:pt x="406663" y="0"/>
                </a:lnTo>
                <a:lnTo>
                  <a:pt x="406663" y="607974"/>
                </a:lnTo>
                <a:lnTo>
                  <a:pt x="0" y="607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75715" y="869282"/>
            <a:ext cx="12020481" cy="75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5"/>
              </a:lnSpc>
            </a:pPr>
            <a:r>
              <a:rPr lang="en-US" sz="4799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2.2 BlocListener – Side-effect on state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07076"/>
            <a:ext cx="15791853" cy="724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8"/>
              </a:lnSpc>
            </a:pPr>
          </a:p>
          <a:p>
            <a:pPr algn="just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BlocL</a:t>
            </a:r>
            <a:r>
              <a:rPr lang="en-US" b="true" sz="3499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istener : </a:t>
            </a:r>
          </a:p>
          <a:p>
            <a:pPr algn="just">
              <a:lnSpc>
                <a:spcPts val="3018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→  </a:t>
            </a: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Chức năng :</a:t>
            </a: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Thực thi các hành động ở một "thời điểm" khác, không phải khi widget đang xây dựng.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→ </a:t>
            </a: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Cách dùng : </a:t>
            </a: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Sử dụng khi bạn muốn thực hiện các hành động như hiển thị thông báo, gọi lệnh điều hướng ...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→ </a:t>
            </a:r>
            <a:r>
              <a:rPr lang="en-US" sz="29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Ưu điểm:</a:t>
            </a:r>
            <a:r>
              <a:rPr lang="en-US" sz="29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Ngăn chặn việc UI bị xây dựng lại không cần thiết khi chỉ cần thực hiện một hành động phụ. 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3018"/>
              </a:lnSpc>
            </a:pPr>
          </a:p>
          <a:p>
            <a:pPr algn="just">
              <a:lnSpc>
                <a:spcPts val="3018"/>
              </a:lnSpc>
            </a:pPr>
          </a:p>
          <a:p>
            <a:pPr algn="just">
              <a:lnSpc>
                <a:spcPts val="3018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9079" y="632426"/>
            <a:ext cx="1224291" cy="12242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5606" y="958297"/>
            <a:ext cx="406663" cy="607974"/>
          </a:xfrm>
          <a:custGeom>
            <a:avLst/>
            <a:gdLst/>
            <a:ahLst/>
            <a:cxnLst/>
            <a:rect r="r" b="b" t="t" l="l"/>
            <a:pathLst>
              <a:path h="607974" w="406663">
                <a:moveTo>
                  <a:pt x="0" y="0"/>
                </a:moveTo>
                <a:lnTo>
                  <a:pt x="406663" y="0"/>
                </a:lnTo>
                <a:lnTo>
                  <a:pt x="406663" y="607974"/>
                </a:lnTo>
                <a:lnTo>
                  <a:pt x="0" y="607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9239" y="4185997"/>
            <a:ext cx="8884452" cy="3336792"/>
          </a:xfrm>
          <a:custGeom>
            <a:avLst/>
            <a:gdLst/>
            <a:ahLst/>
            <a:cxnLst/>
            <a:rect r="r" b="b" t="t" l="l"/>
            <a:pathLst>
              <a:path h="3336792" w="8884452">
                <a:moveTo>
                  <a:pt x="0" y="0"/>
                </a:moveTo>
                <a:lnTo>
                  <a:pt x="8884452" y="0"/>
                </a:lnTo>
                <a:lnTo>
                  <a:pt x="8884452" y="3336791"/>
                </a:lnTo>
                <a:lnTo>
                  <a:pt x="0" y="3336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9" t="-505" r="-344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27293" y="2675913"/>
            <a:ext cx="3567843" cy="6356958"/>
          </a:xfrm>
          <a:custGeom>
            <a:avLst/>
            <a:gdLst/>
            <a:ahLst/>
            <a:cxnLst/>
            <a:rect r="r" b="b" t="t" l="l"/>
            <a:pathLst>
              <a:path h="6356958" w="3567843">
                <a:moveTo>
                  <a:pt x="0" y="0"/>
                </a:moveTo>
                <a:lnTo>
                  <a:pt x="3567843" y="0"/>
                </a:lnTo>
                <a:lnTo>
                  <a:pt x="356784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80078" y="2675913"/>
            <a:ext cx="3671143" cy="6356958"/>
          </a:xfrm>
          <a:custGeom>
            <a:avLst/>
            <a:gdLst/>
            <a:ahLst/>
            <a:cxnLst/>
            <a:rect r="r" b="b" t="t" l="l"/>
            <a:pathLst>
              <a:path h="6356958" w="3671143">
                <a:moveTo>
                  <a:pt x="0" y="0"/>
                </a:moveTo>
                <a:lnTo>
                  <a:pt x="3671143" y="0"/>
                </a:lnTo>
                <a:lnTo>
                  <a:pt x="367114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5715" y="869282"/>
            <a:ext cx="12020481" cy="75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5"/>
              </a:lnSpc>
            </a:pPr>
            <a:r>
              <a:rPr lang="en-US" sz="4799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2.2 BlocListener – Side-effect on state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466125" y="5697691"/>
            <a:ext cx="942963" cy="694082"/>
            <a:chOff x="0" y="0"/>
            <a:chExt cx="812800" cy="5982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598274"/>
            </a:xfrm>
            <a:custGeom>
              <a:avLst/>
              <a:gdLst/>
              <a:ahLst/>
              <a:cxnLst/>
              <a:rect r="r" b="b" t="t" l="l"/>
              <a:pathLst>
                <a:path h="598274" w="812800">
                  <a:moveTo>
                    <a:pt x="812800" y="299137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95074"/>
                  </a:lnTo>
                  <a:lnTo>
                    <a:pt x="406400" y="395074"/>
                  </a:lnTo>
                  <a:lnTo>
                    <a:pt x="406400" y="598274"/>
                  </a:lnTo>
                  <a:lnTo>
                    <a:pt x="812800" y="299137"/>
                  </a:lnTo>
                  <a:close/>
                </a:path>
              </a:pathLst>
            </a:custGeom>
            <a:solidFill>
              <a:srgbClr val="F7645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5575"/>
              <a:ext cx="711200" cy="239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9429" y="1499800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0439" y="1905498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4967" y="402901"/>
            <a:ext cx="10140123" cy="770243"/>
            <a:chOff x="0" y="0"/>
            <a:chExt cx="2670650" cy="2028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70327" y="460045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0" y="0"/>
                </a:lnTo>
                <a:lnTo>
                  <a:pt x="665700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832" y="3824442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70"/>
                </a:lnTo>
                <a:lnTo>
                  <a:pt x="0" y="411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586817" y="-2524752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44967" y="3719322"/>
            <a:ext cx="1519855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Event handling là quá</a:t>
            </a: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 trình BLoC nhận sự kiện (event) từ gi</a:t>
            </a: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ao diện người dùng (UI) và xử lý logic nghiệp vụ tương ứng.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02798" y="1732042"/>
            <a:ext cx="11225955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3.1 Event Handling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3570" y="492748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3.Event handling và State transitions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4967" y="5898070"/>
            <a:ext cx="1519855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Trong Flut</a:t>
            </a: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ter BLoC, mọi hành động củ</a:t>
            </a: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a người dùng (nhấn nút, nhập dữ liệu, chọn tùy chọn, v.v.) đều được biểu diễn dưới dạng event.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3832" y="5955220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70"/>
                </a:lnTo>
                <a:lnTo>
                  <a:pt x="0" y="411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772067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70"/>
                </a:lnTo>
                <a:lnTo>
                  <a:pt x="0" y="41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017042" y="6964539"/>
            <a:ext cx="4829892" cy="5894830"/>
            <a:chOff x="0" y="0"/>
            <a:chExt cx="1272070" cy="1552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59420" y="1339467"/>
            <a:ext cx="11225955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3.1 Event Handling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52897" y="2610431"/>
            <a:ext cx="3019068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Các</a:t>
            </a:r>
            <a:r>
              <a:rPr lang="en-US" b="true" sz="32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loại Events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0671" y="317768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3.Event handling và State transitions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39238" y="4945063"/>
            <a:ext cx="9525" cy="34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3388234" y="3717237"/>
            <a:ext cx="11283723" cy="6174563"/>
            <a:chOff x="0" y="0"/>
            <a:chExt cx="2971845" cy="16262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71845" cy="1626222"/>
            </a:xfrm>
            <a:custGeom>
              <a:avLst/>
              <a:gdLst/>
              <a:ahLst/>
              <a:cxnLst/>
              <a:rect r="r" b="b" t="t" l="l"/>
              <a:pathLst>
                <a:path h="1626222" w="2971845">
                  <a:moveTo>
                    <a:pt x="34992" y="0"/>
                  </a:moveTo>
                  <a:lnTo>
                    <a:pt x="2936853" y="0"/>
                  </a:lnTo>
                  <a:cubicBezTo>
                    <a:pt x="2946133" y="0"/>
                    <a:pt x="2955034" y="3687"/>
                    <a:pt x="2961596" y="10249"/>
                  </a:cubicBezTo>
                  <a:cubicBezTo>
                    <a:pt x="2968158" y="16811"/>
                    <a:pt x="2971845" y="25711"/>
                    <a:pt x="2971845" y="34992"/>
                  </a:cubicBezTo>
                  <a:lnTo>
                    <a:pt x="2971845" y="1591231"/>
                  </a:lnTo>
                  <a:cubicBezTo>
                    <a:pt x="2971845" y="1600511"/>
                    <a:pt x="2968158" y="1609411"/>
                    <a:pt x="2961596" y="1615974"/>
                  </a:cubicBezTo>
                  <a:cubicBezTo>
                    <a:pt x="2955034" y="1622536"/>
                    <a:pt x="2946133" y="1626222"/>
                    <a:pt x="2936853" y="1626222"/>
                  </a:cubicBezTo>
                  <a:lnTo>
                    <a:pt x="34992" y="1626222"/>
                  </a:lnTo>
                  <a:cubicBezTo>
                    <a:pt x="25711" y="1626222"/>
                    <a:pt x="16811" y="1622536"/>
                    <a:pt x="10249" y="1615974"/>
                  </a:cubicBezTo>
                  <a:cubicBezTo>
                    <a:pt x="3687" y="1609411"/>
                    <a:pt x="0" y="1600511"/>
                    <a:pt x="0" y="1591231"/>
                  </a:cubicBezTo>
                  <a:lnTo>
                    <a:pt x="0" y="34992"/>
                  </a:lnTo>
                  <a:cubicBezTo>
                    <a:pt x="0" y="25711"/>
                    <a:pt x="3687" y="16811"/>
                    <a:pt x="10249" y="10249"/>
                  </a:cubicBezTo>
                  <a:cubicBezTo>
                    <a:pt x="16811" y="3687"/>
                    <a:pt x="25711" y="0"/>
                    <a:pt x="3499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971845" cy="1683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Simple Event - không có data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class 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PowerPressed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extends 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RemoteEvent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{}</a:t>
              </a:r>
            </a:p>
            <a:p>
              <a:pPr algn="l">
                <a:lnSpc>
                  <a:spcPts val="3219"/>
                </a:lnSpc>
              </a:pP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Event with Data - có parameters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class 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NavigationPressed 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extends 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RemoteEvent 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{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final 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String 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direction;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NavigationPressed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(this.direction);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}</a:t>
              </a:r>
            </a:p>
            <a:p>
              <a:pPr algn="l">
                <a:lnSpc>
                  <a:spcPts val="3219"/>
                </a:lnSpc>
              </a:pP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Event with Multiple Parameters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class 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SetVolume 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extends 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RemoteEvent 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{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final int volume;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final bool unmute;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SetVolume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({required this.volume, this.unmute = false});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7637" y="2941208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70"/>
                </a:lnTo>
                <a:lnTo>
                  <a:pt x="0" y="41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017042" y="6964539"/>
            <a:ext cx="4829892" cy="5894830"/>
            <a:chOff x="0" y="0"/>
            <a:chExt cx="1272070" cy="1552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59420" y="3989684"/>
            <a:ext cx="5231469" cy="1100945"/>
            <a:chOff x="0" y="0"/>
            <a:chExt cx="1377835" cy="2899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Người dùng thao tác trên UI (nhấn nút, nhập form...)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59420" y="5863594"/>
            <a:ext cx="5231469" cy="1100945"/>
            <a:chOff x="0" y="0"/>
            <a:chExt cx="1377835" cy="2899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UI gửi một Event vào BLoC (bloc.add(Event))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959420" y="7547563"/>
            <a:ext cx="5231469" cy="1100945"/>
            <a:chOff x="0" y="0"/>
            <a:chExt cx="1377835" cy="2899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BLoC lắng nghe event và thực thi logic tương ứng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05853" y="4042555"/>
            <a:ext cx="5231469" cy="1100945"/>
            <a:chOff x="0" y="0"/>
            <a:chExt cx="1377835" cy="2899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BLoC phát ra State mới thông qua emit()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05853" y="5896145"/>
            <a:ext cx="5231469" cy="1100945"/>
            <a:chOff x="0" y="0"/>
            <a:chExt cx="1377835" cy="2899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UI tự động cập nhật theo State mới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959420" y="1339467"/>
            <a:ext cx="11225955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3.1 Event Handling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65990" y="2822290"/>
            <a:ext cx="7898249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Quy</a:t>
            </a:r>
            <a:r>
              <a:rPr lang="en-US" b="true" sz="32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trình hoạt động của Event handling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10671" y="317768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3.Event handling và State transitions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39238" y="4945063"/>
            <a:ext cx="9525" cy="34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1965250" y="4156228"/>
            <a:ext cx="571976" cy="57197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39238" y="6128078"/>
            <a:ext cx="571976" cy="571976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39238" y="4307039"/>
            <a:ext cx="571976" cy="57197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65250" y="7812047"/>
            <a:ext cx="571976" cy="571976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965250" y="6023604"/>
            <a:ext cx="571976" cy="590788"/>
            <a:chOff x="0" y="0"/>
            <a:chExt cx="812800" cy="8395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39532"/>
            </a:xfrm>
            <a:custGeom>
              <a:avLst/>
              <a:gdLst/>
              <a:ahLst/>
              <a:cxnLst/>
              <a:rect r="r" b="b" t="t" l="l"/>
              <a:pathLst>
                <a:path h="839532" w="812800">
                  <a:moveTo>
                    <a:pt x="406400" y="0"/>
                  </a:moveTo>
                  <a:cubicBezTo>
                    <a:pt x="181951" y="0"/>
                    <a:pt x="0" y="187936"/>
                    <a:pt x="0" y="419766"/>
                  </a:cubicBezTo>
                  <a:cubicBezTo>
                    <a:pt x="0" y="651597"/>
                    <a:pt x="181951" y="839532"/>
                    <a:pt x="406400" y="839532"/>
                  </a:cubicBezTo>
                  <a:cubicBezTo>
                    <a:pt x="630849" y="839532"/>
                    <a:pt x="812800" y="651597"/>
                    <a:pt x="812800" y="419766"/>
                  </a:cubicBezTo>
                  <a:cubicBezTo>
                    <a:pt x="812800" y="1879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1081"/>
              <a:ext cx="660400" cy="729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7637" y="2941208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70"/>
                </a:lnTo>
                <a:lnTo>
                  <a:pt x="0" y="41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017042" y="6964539"/>
            <a:ext cx="4829892" cy="5894830"/>
            <a:chOff x="0" y="0"/>
            <a:chExt cx="1272070" cy="1552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59420" y="1339467"/>
            <a:ext cx="11225955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3.1 Event Handling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65990" y="2865008"/>
            <a:ext cx="2655808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Ví</a:t>
            </a:r>
            <a:r>
              <a:rPr lang="en-US" b="true" sz="32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dụ thực tế: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0671" y="317768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3.Event handling và State transitions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099386" y="3737391"/>
            <a:ext cx="11283723" cy="6174563"/>
            <a:chOff x="0" y="0"/>
            <a:chExt cx="2971845" cy="16262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71845" cy="1626222"/>
            </a:xfrm>
            <a:custGeom>
              <a:avLst/>
              <a:gdLst/>
              <a:ahLst/>
              <a:cxnLst/>
              <a:rect r="r" b="b" t="t" l="l"/>
              <a:pathLst>
                <a:path h="1626222" w="2971845">
                  <a:moveTo>
                    <a:pt x="34992" y="0"/>
                  </a:moveTo>
                  <a:lnTo>
                    <a:pt x="2936853" y="0"/>
                  </a:lnTo>
                  <a:cubicBezTo>
                    <a:pt x="2946133" y="0"/>
                    <a:pt x="2955034" y="3687"/>
                    <a:pt x="2961596" y="10249"/>
                  </a:cubicBezTo>
                  <a:cubicBezTo>
                    <a:pt x="2968158" y="16811"/>
                    <a:pt x="2971845" y="25711"/>
                    <a:pt x="2971845" y="34992"/>
                  </a:cubicBezTo>
                  <a:lnTo>
                    <a:pt x="2971845" y="1591231"/>
                  </a:lnTo>
                  <a:cubicBezTo>
                    <a:pt x="2971845" y="1600511"/>
                    <a:pt x="2968158" y="1609411"/>
                    <a:pt x="2961596" y="1615974"/>
                  </a:cubicBezTo>
                  <a:cubicBezTo>
                    <a:pt x="2955034" y="1622536"/>
                    <a:pt x="2946133" y="1626222"/>
                    <a:pt x="2936853" y="1626222"/>
                  </a:cubicBezTo>
                  <a:lnTo>
                    <a:pt x="34992" y="1626222"/>
                  </a:lnTo>
                  <a:cubicBezTo>
                    <a:pt x="25711" y="1626222"/>
                    <a:pt x="16811" y="1622536"/>
                    <a:pt x="10249" y="1615974"/>
                  </a:cubicBezTo>
                  <a:cubicBezTo>
                    <a:pt x="3687" y="1609411"/>
                    <a:pt x="0" y="1600511"/>
                    <a:pt x="0" y="1591231"/>
                  </a:cubicBezTo>
                  <a:lnTo>
                    <a:pt x="0" y="34992"/>
                  </a:lnTo>
                  <a:cubicBezTo>
                    <a:pt x="0" y="25711"/>
                    <a:pt x="3687" y="16811"/>
                    <a:pt x="10249" y="10249"/>
                  </a:cubicBezTo>
                  <a:cubicBezTo>
                    <a:pt x="16811" y="3687"/>
                    <a:pt x="25711" y="0"/>
                    <a:pt x="3499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971845" cy="1683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Bước 1: User nhấn nút Vo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lume Up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onPressed: () {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// Bước 2: Tạo event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context.read&lt;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RemoteBloc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&gt;().add(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VolumeUp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());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}</a:t>
              </a:r>
            </a:p>
            <a:p>
              <a:pPr algn="l">
                <a:lnSpc>
                  <a:spcPts val="3219"/>
                </a:lnSpc>
              </a:pP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Bước 3: BLoC nhận event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on&lt;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VolumeUp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&gt;(_onVolumeUp);</a:t>
              </a:r>
            </a:p>
            <a:p>
              <a:pPr algn="l">
                <a:lnSpc>
                  <a:spcPts val="3219"/>
                </a:lnSpc>
              </a:pP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Bước 4: Handler xử lý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void _onVolumeUp(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VolumeUp 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event, 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Emitter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&lt;</a:t>
              </a:r>
              <a:r>
                <a:rPr lang="en-US" sz="2299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RemoteState</a:t>
              </a: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&gt; emit) {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final newVolume = (state.volume + 5).clamp(0, 100);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emit(state.copyWith(volume: newVolume)); // Bước 5: Emit state mới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3315" y="2565115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6" y="0"/>
                </a:lnTo>
                <a:lnTo>
                  <a:pt x="1332196" y="411770"/>
                </a:lnTo>
                <a:lnTo>
                  <a:pt x="0" y="41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017042" y="6964539"/>
            <a:ext cx="4829892" cy="5894830"/>
            <a:chOff x="0" y="0"/>
            <a:chExt cx="1272070" cy="1552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37955" y="1360891"/>
            <a:ext cx="8340568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3.2 State Transitions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5443" y="2346040"/>
            <a:ext cx="14322115" cy="1172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36"/>
              </a:lnSpc>
            </a:pPr>
            <a:r>
              <a:rPr lang="en-US" sz="2600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State transition là quá trình BLoC chuyển từ trạng</a:t>
            </a:r>
            <a:r>
              <a:rPr lang="en-US" sz="2600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 thái hiện tại sang trạng thái mới sau khi xử lý event.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5443" y="3833083"/>
            <a:ext cx="11683960" cy="1663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Mỗi khi BLoC emit() một state, Flutter tự động:</a:t>
            </a:r>
          </a:p>
          <a:p>
            <a:pPr algn="just" marL="518175" indent="-259087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Thay đổi giá trị hiện tại của state.</a:t>
            </a:r>
          </a:p>
          <a:p>
            <a:pPr algn="just" marL="518175" indent="-259087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Kích hoạt rebuild các widget đang lắng nghe (BlocBuilder hoặc BlocListener).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659274" y="312897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3.Event handling và State transitions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7515" y="2724145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70"/>
                </a:lnTo>
                <a:lnTo>
                  <a:pt x="0" y="41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017042" y="6964539"/>
            <a:ext cx="4829892" cy="5894830"/>
            <a:chOff x="0" y="0"/>
            <a:chExt cx="1272070" cy="1552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37955" y="1360891"/>
            <a:ext cx="8340568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3.2 State Transitions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9274" y="312897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3.Event handling và State transitions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5446" y="2730151"/>
            <a:ext cx="2045017" cy="40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Cấu trúc State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09855" y="2246981"/>
            <a:ext cx="8118976" cy="7664973"/>
            <a:chOff x="0" y="0"/>
            <a:chExt cx="2138331" cy="2018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8331" cy="2018758"/>
            </a:xfrm>
            <a:custGeom>
              <a:avLst/>
              <a:gdLst/>
              <a:ahLst/>
              <a:cxnLst/>
              <a:rect r="r" b="b" t="t" l="l"/>
              <a:pathLst>
                <a:path h="2018758" w="2138331">
                  <a:moveTo>
                    <a:pt x="48631" y="0"/>
                  </a:moveTo>
                  <a:lnTo>
                    <a:pt x="2089700" y="0"/>
                  </a:lnTo>
                  <a:cubicBezTo>
                    <a:pt x="2116558" y="0"/>
                    <a:pt x="2138331" y="21773"/>
                    <a:pt x="2138331" y="48631"/>
                  </a:cubicBezTo>
                  <a:lnTo>
                    <a:pt x="2138331" y="1970127"/>
                  </a:lnTo>
                  <a:cubicBezTo>
                    <a:pt x="2138331" y="1996985"/>
                    <a:pt x="2116558" y="2018758"/>
                    <a:pt x="2089700" y="2018758"/>
                  </a:cubicBezTo>
                  <a:lnTo>
                    <a:pt x="48631" y="2018758"/>
                  </a:lnTo>
                  <a:cubicBezTo>
                    <a:pt x="21773" y="2018758"/>
                    <a:pt x="0" y="1996985"/>
                    <a:pt x="0" y="1970127"/>
                  </a:cubicBezTo>
                  <a:lnTo>
                    <a:pt x="0" y="48631"/>
                  </a:lnTo>
                  <a:cubicBezTo>
                    <a:pt x="0" y="21773"/>
                    <a:pt x="21773" y="0"/>
                    <a:pt x="48631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138331" cy="2075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copyWith - Tạo state mới với một số fields thay đổi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RemoteState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copyWith({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bool? isPowerOn,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int? volume,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int? channel,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String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? lastCommand,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}) {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return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RemoteState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isPowerOn: isPowerOn ??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this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.isPowerOn,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volume: v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olume ??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this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.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volume,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chann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el: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channel ??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this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.channel,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lastCommand: lastCommand ??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this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.lastCommand,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);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}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// Equatable - So sánh states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@override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List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&lt;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Object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?&gt;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get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props =&gt; [isPowerOn, volume, channel, lastCommand];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}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276037" y="3393090"/>
            <a:ext cx="5481881" cy="5767425"/>
            <a:chOff x="0" y="0"/>
            <a:chExt cx="1443788" cy="15189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43788" cy="1518992"/>
            </a:xfrm>
            <a:custGeom>
              <a:avLst/>
              <a:gdLst/>
              <a:ahLst/>
              <a:cxnLst/>
              <a:rect r="r" b="b" t="t" l="l"/>
              <a:pathLst>
                <a:path h="1518992" w="1443788">
                  <a:moveTo>
                    <a:pt x="72026" y="0"/>
                  </a:moveTo>
                  <a:lnTo>
                    <a:pt x="1371762" y="0"/>
                  </a:lnTo>
                  <a:cubicBezTo>
                    <a:pt x="1411540" y="0"/>
                    <a:pt x="1443788" y="32247"/>
                    <a:pt x="1443788" y="72026"/>
                  </a:cubicBezTo>
                  <a:lnTo>
                    <a:pt x="1443788" y="1446966"/>
                  </a:lnTo>
                  <a:cubicBezTo>
                    <a:pt x="1443788" y="1486745"/>
                    <a:pt x="1411540" y="1518992"/>
                    <a:pt x="1371762" y="1518992"/>
                  </a:cubicBezTo>
                  <a:lnTo>
                    <a:pt x="72026" y="1518992"/>
                  </a:lnTo>
                  <a:cubicBezTo>
                    <a:pt x="32247" y="1518992"/>
                    <a:pt x="0" y="1486745"/>
                    <a:pt x="0" y="1446966"/>
                  </a:cubicBezTo>
                  <a:lnTo>
                    <a:pt x="0" y="72026"/>
                  </a:lnTo>
                  <a:cubicBezTo>
                    <a:pt x="0" y="32247"/>
                    <a:pt x="32247" y="0"/>
                    <a:pt x="7202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443788" cy="1576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class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RemoteState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extends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Equatable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{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final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bool isPowerOn;      // Status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final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int vo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lume;          // Data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final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int channel;         // Data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final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String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lastCommand;  // Metadata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const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RemoteState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({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this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.isPowerOn =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false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this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.v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olume =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50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this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.channel =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1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</a:t>
              </a:r>
              <a:r>
                <a:rPr lang="en-US" sz="21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this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.lastCommand = '',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}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);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7637" y="2941208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70"/>
                </a:lnTo>
                <a:lnTo>
                  <a:pt x="0" y="41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017042" y="6964539"/>
            <a:ext cx="4829892" cy="5894830"/>
            <a:chOff x="0" y="0"/>
            <a:chExt cx="1272070" cy="1552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59420" y="3989684"/>
            <a:ext cx="5231469" cy="1100945"/>
            <a:chOff x="0" y="0"/>
            <a:chExt cx="1377835" cy="2899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Trạng thái hiện tại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59420" y="5863594"/>
            <a:ext cx="5231469" cy="1100945"/>
            <a:chOff x="0" y="0"/>
            <a:chExt cx="1377835" cy="2899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Gửi một Event vào BLoC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959420" y="7547563"/>
            <a:ext cx="5231469" cy="1100945"/>
            <a:chOff x="0" y="0"/>
            <a:chExt cx="1377835" cy="2899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BLoC lắng nghe event và thực thi logic tương ứng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05853" y="4042555"/>
            <a:ext cx="5231469" cy="1100945"/>
            <a:chOff x="0" y="0"/>
            <a:chExt cx="1377835" cy="2899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BLoC phát ra State mới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05853" y="5896145"/>
            <a:ext cx="5231469" cy="1100945"/>
            <a:chOff x="0" y="0"/>
            <a:chExt cx="1377835" cy="2899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UI tự động cập nhật theo State mới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959420" y="1339467"/>
            <a:ext cx="11225955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3.2 State Transitions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72990" y="2822290"/>
            <a:ext cx="828425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Quy</a:t>
            </a:r>
            <a:r>
              <a:rPr lang="en-US" b="true" sz="32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trình hoạt động của  State Transitions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10671" y="317768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3.Event handling và State transitions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39238" y="4945063"/>
            <a:ext cx="9525" cy="34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1965250" y="4156228"/>
            <a:ext cx="571976" cy="57197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39238" y="6128078"/>
            <a:ext cx="571976" cy="571976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39238" y="4307039"/>
            <a:ext cx="571976" cy="57197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65250" y="7812047"/>
            <a:ext cx="571976" cy="571976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965250" y="6023604"/>
            <a:ext cx="571976" cy="590788"/>
            <a:chOff x="0" y="0"/>
            <a:chExt cx="812800" cy="8395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39532"/>
            </a:xfrm>
            <a:custGeom>
              <a:avLst/>
              <a:gdLst/>
              <a:ahLst/>
              <a:cxnLst/>
              <a:rect r="r" b="b" t="t" l="l"/>
              <a:pathLst>
                <a:path h="839532" w="812800">
                  <a:moveTo>
                    <a:pt x="406400" y="0"/>
                  </a:moveTo>
                  <a:cubicBezTo>
                    <a:pt x="181951" y="0"/>
                    <a:pt x="0" y="187936"/>
                    <a:pt x="0" y="419766"/>
                  </a:cubicBezTo>
                  <a:cubicBezTo>
                    <a:pt x="0" y="651597"/>
                    <a:pt x="181951" y="839532"/>
                    <a:pt x="406400" y="839532"/>
                  </a:cubicBezTo>
                  <a:cubicBezTo>
                    <a:pt x="630849" y="839532"/>
                    <a:pt x="812800" y="651597"/>
                    <a:pt x="812800" y="419766"/>
                  </a:cubicBezTo>
                  <a:cubicBezTo>
                    <a:pt x="812800" y="1879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1081"/>
              <a:ext cx="660400" cy="729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7637" y="2941208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70"/>
                </a:lnTo>
                <a:lnTo>
                  <a:pt x="0" y="41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017042" y="6964539"/>
            <a:ext cx="4829892" cy="5894830"/>
            <a:chOff x="0" y="0"/>
            <a:chExt cx="1272070" cy="1552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59420" y="1339467"/>
            <a:ext cx="11225955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3.2 State Transitions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29241" y="2865008"/>
            <a:ext cx="1129308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Ví dụ: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0671" y="317768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3.Event handling và State transitions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169290" y="2155896"/>
            <a:ext cx="9425641" cy="7976182"/>
            <a:chOff x="0" y="0"/>
            <a:chExt cx="2482473" cy="21007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82473" cy="2100723"/>
            </a:xfrm>
            <a:custGeom>
              <a:avLst/>
              <a:gdLst/>
              <a:ahLst/>
              <a:cxnLst/>
              <a:rect r="r" b="b" t="t" l="l"/>
              <a:pathLst>
                <a:path h="2100723" w="2482473">
                  <a:moveTo>
                    <a:pt x="41890" y="0"/>
                  </a:moveTo>
                  <a:lnTo>
                    <a:pt x="2440584" y="0"/>
                  </a:lnTo>
                  <a:cubicBezTo>
                    <a:pt x="2463719" y="0"/>
                    <a:pt x="2482473" y="18755"/>
                    <a:pt x="2482473" y="41890"/>
                  </a:cubicBezTo>
                  <a:lnTo>
                    <a:pt x="2482473" y="2058833"/>
                  </a:lnTo>
                  <a:cubicBezTo>
                    <a:pt x="2482473" y="2069943"/>
                    <a:pt x="2478060" y="2080598"/>
                    <a:pt x="2470204" y="2088454"/>
                  </a:cubicBezTo>
                  <a:cubicBezTo>
                    <a:pt x="2462348" y="2096309"/>
                    <a:pt x="2451693" y="2100723"/>
                    <a:pt x="2440584" y="2100723"/>
                  </a:cubicBezTo>
                  <a:lnTo>
                    <a:pt x="41890" y="2100723"/>
                  </a:lnTo>
                  <a:cubicBezTo>
                    <a:pt x="30780" y="2100723"/>
                    <a:pt x="20125" y="2096309"/>
                    <a:pt x="12269" y="2088454"/>
                  </a:cubicBezTo>
                  <a:cubicBezTo>
                    <a:pt x="4413" y="2080598"/>
                    <a:pt x="0" y="2069943"/>
                    <a:pt x="0" y="2058833"/>
                  </a:cubicBezTo>
                  <a:lnTo>
                    <a:pt x="0" y="41890"/>
                  </a:lnTo>
                  <a:cubicBezTo>
                    <a:pt x="0" y="30780"/>
                    <a:pt x="4413" y="20125"/>
                    <a:pt x="12269" y="12269"/>
                  </a:cubicBezTo>
                  <a:cubicBezTo>
                    <a:pt x="20125" y="4413"/>
                    <a:pt x="30780" y="0"/>
                    <a:pt x="4189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482473" cy="2157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BLoC xử lý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void </a:t>
              </a:r>
              <a:r>
                <a:rPr lang="en-US" sz="2100">
                  <a:solidFill>
                    <a:srgbClr val="004A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_onVolumeUp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VolumeUp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event,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Emitter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&lt;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RemoteState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&gt; emit) {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if (!state.isPowerOn) return; // Guard clause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final newVolume = (state.volume +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5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).</a:t>
              </a:r>
              <a:r>
                <a:rPr lang="en-US" sz="2100">
                  <a:solidFill>
                    <a:srgbClr val="004A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clamp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0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100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);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  <a:r>
                <a:rPr lang="en-US" sz="2100">
                  <a:solidFill>
                    <a:srgbClr val="004A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emit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(state.</a:t>
              </a:r>
              <a:r>
                <a:rPr lang="en-US" sz="2100">
                  <a:solidFill>
                    <a:srgbClr val="004A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copyWith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volume: newVolume,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lastCommand: '</a:t>
              </a:r>
              <a:r>
                <a:rPr lang="en-US" sz="2100">
                  <a:solidFill>
                    <a:srgbClr val="00BF63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Volume Up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: $newVolume',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));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}</a:t>
              </a:r>
            </a:p>
            <a:p>
              <a:pPr algn="l">
                <a:lnSpc>
                  <a:spcPts val="2940"/>
                </a:lnSpc>
              </a:pP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State mới được emit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RemoteState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isPowerOn: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true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     // Không đổi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volume: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55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          // Thay đổi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channel: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5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          // Không đổi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lastCommand: '...'   // Thay đổi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)</a:t>
              </a:r>
            </a:p>
            <a:p>
              <a:pPr algn="l">
                <a:lnSpc>
                  <a:spcPts val="2940"/>
                </a:lnSpc>
              </a:pP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UI tự động rebuild với data mới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552897" y="4410211"/>
            <a:ext cx="5340169" cy="3508601"/>
            <a:chOff x="0" y="0"/>
            <a:chExt cx="1406464" cy="9240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06464" cy="924076"/>
            </a:xfrm>
            <a:custGeom>
              <a:avLst/>
              <a:gdLst/>
              <a:ahLst/>
              <a:cxnLst/>
              <a:rect r="r" b="b" t="t" l="l"/>
              <a:pathLst>
                <a:path h="924076" w="1406464">
                  <a:moveTo>
                    <a:pt x="73937" y="0"/>
                  </a:moveTo>
                  <a:lnTo>
                    <a:pt x="1332527" y="0"/>
                  </a:lnTo>
                  <a:cubicBezTo>
                    <a:pt x="1373361" y="0"/>
                    <a:pt x="1406464" y="33103"/>
                    <a:pt x="1406464" y="73937"/>
                  </a:cubicBezTo>
                  <a:lnTo>
                    <a:pt x="1406464" y="850139"/>
                  </a:lnTo>
                  <a:cubicBezTo>
                    <a:pt x="1406464" y="890973"/>
                    <a:pt x="1373361" y="924076"/>
                    <a:pt x="1332527" y="924076"/>
                  </a:cubicBezTo>
                  <a:lnTo>
                    <a:pt x="73937" y="924076"/>
                  </a:lnTo>
                  <a:cubicBezTo>
                    <a:pt x="33103" y="924076"/>
                    <a:pt x="0" y="890973"/>
                    <a:pt x="0" y="850139"/>
                  </a:cubicBezTo>
                  <a:lnTo>
                    <a:pt x="0" y="73937"/>
                  </a:lnTo>
                  <a:cubicBezTo>
                    <a:pt x="0" y="33103"/>
                    <a:pt x="33103" y="0"/>
                    <a:pt x="7393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406464" cy="981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State ban đầ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u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oteState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isPowerOn: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true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volu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me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: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50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hann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l: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5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)</a:t>
              </a:r>
            </a:p>
            <a:p>
              <a:pPr algn="l">
                <a:lnSpc>
                  <a:spcPts val="2940"/>
                </a:lnSpc>
              </a:pP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// User nhấn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Volume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Up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↓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Event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: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VolumeUp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6494" y="1048062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7504" y="1453760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7727" y="3340242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69"/>
                </a:lnTo>
                <a:lnTo>
                  <a:pt x="0" y="411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38465" y="277819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63824" y="334962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890522" y="-2478285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091427" y="7238182"/>
            <a:ext cx="4829892" cy="5894830"/>
            <a:chOff x="0" y="0"/>
            <a:chExt cx="1272070" cy="1552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065749" y="1415660"/>
            <a:ext cx="13199566" cy="77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3"/>
              </a:lnSpc>
            </a:pPr>
            <a:r>
              <a:rPr lang="en-US" sz="49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4.1 TẠI SAO PHẢI TEST BLOC?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87068" y="367665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4.Testing BLoC với bloc_test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40644" y="3292617"/>
            <a:ext cx="7724888" cy="198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Lý do: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Tách biệt logic nghiệp vụ khỏi UI 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Test nhanh - Không cần render UI 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Catch bugs sớm - Trước khi chạy app 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Refactor an toàn - Confidence cao khi thay đổi code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93784" y="6557163"/>
            <a:ext cx="9062327" cy="238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blo</a:t>
            </a: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c_test PACKAGE là gì?</a:t>
            </a:r>
          </a:p>
          <a:p>
            <a:pPr algn="just" marL="496585" indent="-248293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Package chính thức từ Felix Angelov (tác giả BLoC)</a:t>
            </a:r>
          </a:p>
          <a:p>
            <a:pPr algn="just" marL="496585" indent="-248293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Cung cấp utilities để test BLoC dễ dàng</a:t>
            </a:r>
          </a:p>
          <a:p>
            <a:pPr algn="just" marL="496585" indent="-248293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Built-in matchers và helpers</a:t>
            </a:r>
          </a:p>
          <a:p>
            <a:pPr algn="just" marL="496585" indent="-248293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Support async operations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97330" y="6604788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69"/>
                </a:lnTo>
                <a:lnTo>
                  <a:pt x="0" y="411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971400" y="6021427"/>
            <a:ext cx="6550190" cy="3508601"/>
            <a:chOff x="0" y="0"/>
            <a:chExt cx="1725153" cy="9240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25153" cy="924076"/>
            </a:xfrm>
            <a:custGeom>
              <a:avLst/>
              <a:gdLst/>
              <a:ahLst/>
              <a:cxnLst/>
              <a:rect r="r" b="b" t="t" l="l"/>
              <a:pathLst>
                <a:path h="924076" w="1725153">
                  <a:moveTo>
                    <a:pt x="60279" y="0"/>
                  </a:moveTo>
                  <a:lnTo>
                    <a:pt x="1664874" y="0"/>
                  </a:lnTo>
                  <a:cubicBezTo>
                    <a:pt x="1698165" y="0"/>
                    <a:pt x="1725153" y="26988"/>
                    <a:pt x="1725153" y="60279"/>
                  </a:cubicBezTo>
                  <a:lnTo>
                    <a:pt x="1725153" y="863797"/>
                  </a:lnTo>
                  <a:cubicBezTo>
                    <a:pt x="1725153" y="879784"/>
                    <a:pt x="1718802" y="895116"/>
                    <a:pt x="1707498" y="906421"/>
                  </a:cubicBezTo>
                  <a:cubicBezTo>
                    <a:pt x="1696193" y="917725"/>
                    <a:pt x="1680861" y="924076"/>
                    <a:pt x="1664874" y="924076"/>
                  </a:cubicBezTo>
                  <a:lnTo>
                    <a:pt x="60279" y="924076"/>
                  </a:lnTo>
                  <a:cubicBezTo>
                    <a:pt x="26988" y="924076"/>
                    <a:pt x="0" y="897088"/>
                    <a:pt x="0" y="863797"/>
                  </a:cubicBezTo>
                  <a:lnTo>
                    <a:pt x="0" y="60279"/>
                  </a:lnTo>
                  <a:cubicBezTo>
                    <a:pt x="0" y="26988"/>
                    <a:pt x="26988" y="0"/>
                    <a:pt x="6027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25153" cy="981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</a:t>
              </a:r>
              <a:r>
                <a:rPr lang="en-US" sz="2100" b="true">
                  <a:solidFill>
                    <a:srgbClr val="000000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Installation</a:t>
              </a:r>
            </a:p>
            <a:p>
              <a:pPr algn="l">
                <a:lnSpc>
                  <a:spcPts val="2940"/>
                </a:lnSpc>
              </a:pP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# pubspec.yaml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dev_dependencies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: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</a:t>
              </a:r>
              <a:r>
                <a:rPr lang="en-US" sz="21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fl</a:t>
              </a:r>
              <a:r>
                <a:rPr lang="en-US" sz="21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utt</a:t>
              </a:r>
              <a:r>
                <a:rPr lang="en-US" sz="21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er_</a:t>
              </a:r>
              <a:r>
                <a:rPr lang="en-US" sz="21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test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: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</a:t>
              </a:r>
              <a:r>
                <a:rPr lang="en-US" sz="21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sdk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: flut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</a:t>
              </a:r>
              <a:r>
                <a:rPr lang="en-US" sz="21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bloc_test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: ^9.1.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0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</a:t>
              </a:r>
              <a:r>
                <a:rPr lang="en-US" sz="21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mocktail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: ^1.0.0 # O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pt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ional: f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o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m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ocking</a:t>
              </a:r>
            </a:p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301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7312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807948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69"/>
                </a:lnTo>
                <a:lnTo>
                  <a:pt x="0" y="411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219221" y="7183413"/>
            <a:ext cx="4829892" cy="5894830"/>
            <a:chOff x="0" y="0"/>
            <a:chExt cx="1272070" cy="1552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59274" y="312897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4.Testing BLoC với bloc_test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9355" y="2795393"/>
            <a:ext cx="5215679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Cấu trúc BLoC: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63514" y="3505467"/>
            <a:ext cx="8101594" cy="2677628"/>
            <a:chOff x="0" y="0"/>
            <a:chExt cx="2133753" cy="7052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3753" cy="705219"/>
            </a:xfrm>
            <a:custGeom>
              <a:avLst/>
              <a:gdLst/>
              <a:ahLst/>
              <a:cxnLst/>
              <a:rect r="r" b="b" t="t" l="l"/>
              <a:pathLst>
                <a:path h="705219" w="2133753">
                  <a:moveTo>
                    <a:pt x="48736" y="0"/>
                  </a:moveTo>
                  <a:lnTo>
                    <a:pt x="2085018" y="0"/>
                  </a:lnTo>
                  <a:cubicBezTo>
                    <a:pt x="2097943" y="0"/>
                    <a:pt x="2110339" y="5135"/>
                    <a:pt x="2119479" y="14274"/>
                  </a:cubicBezTo>
                  <a:cubicBezTo>
                    <a:pt x="2128619" y="23414"/>
                    <a:pt x="2133753" y="35810"/>
                    <a:pt x="2133753" y="48736"/>
                  </a:cubicBezTo>
                  <a:lnTo>
                    <a:pt x="2133753" y="656483"/>
                  </a:lnTo>
                  <a:cubicBezTo>
                    <a:pt x="2133753" y="683399"/>
                    <a:pt x="2111933" y="705219"/>
                    <a:pt x="2085018" y="705219"/>
                  </a:cubicBezTo>
                  <a:lnTo>
                    <a:pt x="48736" y="705219"/>
                  </a:lnTo>
                  <a:cubicBezTo>
                    <a:pt x="35810" y="705219"/>
                    <a:pt x="23414" y="700084"/>
                    <a:pt x="14274" y="690945"/>
                  </a:cubicBezTo>
                  <a:cubicBezTo>
                    <a:pt x="5135" y="681805"/>
                    <a:pt x="0" y="669409"/>
                    <a:pt x="0" y="656483"/>
                  </a:cubicBezTo>
                  <a:lnTo>
                    <a:pt x="0" y="48736"/>
                  </a:lnTo>
                  <a:cubicBezTo>
                    <a:pt x="0" y="35810"/>
                    <a:pt x="5135" y="23414"/>
                    <a:pt x="14274" y="14274"/>
                  </a:cubicBezTo>
                  <a:cubicBezTo>
                    <a:pt x="23414" y="5135"/>
                    <a:pt x="35810" y="0"/>
                    <a:pt x="4873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133753" cy="76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blocTest&lt;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BlocType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StateType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&gt;(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'Mô tả test',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bui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l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d: () =&gt; 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YourB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l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oc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(),           // Khởi tạo BLoC cần test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act: (bloc) =&gt; bloc.</a:t>
              </a:r>
              <a:r>
                <a:rPr lang="en-US" sz="21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add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Event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()),  // Gửi event vào BLoC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xp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: () =&gt; [</a:t>
              </a:r>
              <a:r>
                <a:rPr lang="en-US" sz="21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ExpectedStates</a:t>
              </a: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],    // Kết quả mong đợi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);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48517" y="1129037"/>
            <a:ext cx="8091529" cy="9157963"/>
            <a:chOff x="0" y="0"/>
            <a:chExt cx="2131102" cy="24119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1102" cy="2411974"/>
            </a:xfrm>
            <a:custGeom>
              <a:avLst/>
              <a:gdLst/>
              <a:ahLst/>
              <a:cxnLst/>
              <a:rect r="r" b="b" t="t" l="l"/>
              <a:pathLst>
                <a:path h="2411974" w="2131102">
                  <a:moveTo>
                    <a:pt x="48796" y="0"/>
                  </a:moveTo>
                  <a:lnTo>
                    <a:pt x="2082306" y="0"/>
                  </a:lnTo>
                  <a:cubicBezTo>
                    <a:pt x="2095247" y="0"/>
                    <a:pt x="2107659" y="5141"/>
                    <a:pt x="2116810" y="14292"/>
                  </a:cubicBezTo>
                  <a:cubicBezTo>
                    <a:pt x="2125961" y="23443"/>
                    <a:pt x="2131102" y="35855"/>
                    <a:pt x="2131102" y="48796"/>
                  </a:cubicBezTo>
                  <a:lnTo>
                    <a:pt x="2131102" y="2363177"/>
                  </a:lnTo>
                  <a:cubicBezTo>
                    <a:pt x="2131102" y="2390127"/>
                    <a:pt x="2109255" y="2411974"/>
                    <a:pt x="2082306" y="2411974"/>
                  </a:cubicBezTo>
                  <a:lnTo>
                    <a:pt x="48796" y="2411974"/>
                  </a:lnTo>
                  <a:cubicBezTo>
                    <a:pt x="35855" y="2411974"/>
                    <a:pt x="23443" y="2406833"/>
                    <a:pt x="14292" y="2397682"/>
                  </a:cubicBezTo>
                  <a:cubicBezTo>
                    <a:pt x="5141" y="2388530"/>
                    <a:pt x="0" y="2376119"/>
                    <a:pt x="0" y="2363177"/>
                  </a:cubicBezTo>
                  <a:lnTo>
                    <a:pt x="0" y="48796"/>
                  </a:lnTo>
                  <a:cubicBezTo>
                    <a:pt x="0" y="35855"/>
                    <a:pt x="5141" y="23443"/>
                    <a:pt x="14292" y="14292"/>
                  </a:cubicBezTo>
                  <a:cubicBezTo>
                    <a:pt x="23443" y="5141"/>
                    <a:pt x="35855" y="0"/>
                    <a:pt x="4879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31102" cy="2459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import 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'</a:t>
              </a:r>
              <a:r>
                <a:rPr lang="en-US" sz="1900">
                  <a:solidFill>
                    <a:srgbClr val="00BF63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package:flutter_test/flutter_test.dart';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5E17EB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import </a:t>
              </a:r>
              <a:r>
                <a:rPr lang="en-US" sz="1900">
                  <a:solidFill>
                    <a:srgbClr val="00BF63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'package:</a:t>
              </a:r>
              <a:r>
                <a:rPr lang="en-US" sz="1900">
                  <a:solidFill>
                    <a:srgbClr val="00BF63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bloc_test/bloc_test.dart';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void main() {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</a:t>
              </a:r>
              <a:r>
                <a:rPr lang="en-US" sz="19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group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('R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moteBloc', () {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late </a:t>
              </a:r>
              <a:r>
                <a:rPr lang="en-US" sz="19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RemoteBloc 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remoteBloc;</a:t>
              </a:r>
            </a:p>
            <a:p>
              <a:pPr algn="l">
                <a:lnSpc>
                  <a:spcPts val="2660"/>
                </a:lnSpc>
              </a:pP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</a:t>
              </a:r>
              <a:r>
                <a:rPr lang="en-US" sz="19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setUp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(() {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remoteBloc = </a:t>
              </a:r>
              <a:r>
                <a:rPr lang="en-US" sz="19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RemoteB</a:t>
              </a:r>
              <a:r>
                <a:rPr lang="en-US" sz="19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l</a:t>
              </a:r>
              <a:r>
                <a:rPr lang="en-US" sz="19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oc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();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});</a:t>
              </a:r>
            </a:p>
            <a:p>
              <a:pPr algn="l">
                <a:lnSpc>
                  <a:spcPts val="2660"/>
                </a:lnSpc>
              </a:pP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</a:t>
              </a:r>
              <a:r>
                <a:rPr lang="en-US" sz="19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tearDown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(() {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remoteBloc.</a:t>
              </a:r>
              <a:r>
                <a:rPr lang="en-US" sz="19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close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();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});</a:t>
              </a:r>
            </a:p>
            <a:p>
              <a:pPr algn="l">
                <a:lnSpc>
                  <a:spcPts val="2660"/>
                </a:lnSpc>
              </a:pP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blocTest&lt;</a:t>
              </a:r>
              <a:r>
                <a:rPr lang="en-US" sz="19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RemoteBloc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 </a:t>
              </a:r>
              <a:r>
                <a:rPr lang="en-US" sz="19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RemoteState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&gt;(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'</a:t>
              </a:r>
              <a:r>
                <a:rPr lang="en-US" sz="1900">
                  <a:solidFill>
                    <a:srgbClr val="00BF63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emits [isPowerOn: true] when PowerPressed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',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build: () </a:t>
              </a:r>
              <a:r>
                <a:rPr lang="en-US" sz="19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=&gt;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remoteBloc,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act: (bloc) </a:t>
              </a:r>
              <a:r>
                <a:rPr lang="en-US" sz="19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=&gt;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bloc.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add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</a:t>
              </a:r>
              <a:r>
                <a:rPr lang="en-US" sz="19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PowerPressed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()),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xp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e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: () </a:t>
              </a:r>
              <a:r>
                <a:rPr lang="en-US" sz="1900">
                  <a:solidFill>
                    <a:srgbClr val="1800AD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=&gt;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[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  const </a:t>
              </a:r>
              <a:r>
                <a:rPr lang="en-US" sz="19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RemoteState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(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    i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s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PowerOn: </a:t>
              </a:r>
              <a:r>
                <a:rPr lang="en-US" sz="1900">
                  <a:solidFill>
                    <a:srgbClr val="F76455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true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,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    lastCommand: '</a:t>
              </a:r>
              <a:r>
                <a:rPr lang="en-US" sz="1900">
                  <a:solidFill>
                    <a:srgbClr val="00BF63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Power ON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',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  ),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  ],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  </a:t>
              </a: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);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  });</a:t>
              </a:r>
            </a:p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}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00498" y="1100462"/>
            <a:ext cx="7248019" cy="152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6"/>
              </a:lnSpc>
            </a:pPr>
            <a:r>
              <a:rPr lang="en-US" sz="48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4.1 TẠI SAO PHẢI TEST BLOC?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7637" y="2941208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70"/>
                </a:lnTo>
                <a:lnTo>
                  <a:pt x="0" y="41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017042" y="6964539"/>
            <a:ext cx="4829892" cy="5894830"/>
            <a:chOff x="0" y="0"/>
            <a:chExt cx="1272070" cy="1552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59420" y="3989684"/>
            <a:ext cx="5231469" cy="1100945"/>
            <a:chOff x="0" y="0"/>
            <a:chExt cx="1377835" cy="2899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Khởi tạo BLoC (build)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59420" y="5863594"/>
            <a:ext cx="5231469" cy="1100945"/>
            <a:chOff x="0" y="0"/>
            <a:chExt cx="1377835" cy="2899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Gửi event vào (act)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959420" y="7547563"/>
            <a:ext cx="5231469" cy="1100945"/>
            <a:chOff x="0" y="0"/>
            <a:chExt cx="1377835" cy="2899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Chờ BLoC xử lý event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05853" y="4042555"/>
            <a:ext cx="5231469" cy="1100945"/>
            <a:chOff x="0" y="0"/>
            <a:chExt cx="1377835" cy="2899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So sánh kết quả state nhận được (expect)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05853" y="5896145"/>
            <a:ext cx="5231469" cy="1100945"/>
            <a:chOff x="0" y="0"/>
            <a:chExt cx="1377835" cy="2899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7835" cy="289961"/>
            </a:xfrm>
            <a:custGeom>
              <a:avLst/>
              <a:gdLst/>
              <a:ahLst/>
              <a:cxnLst/>
              <a:rect r="r" b="b" t="t" l="l"/>
              <a:pathLst>
                <a:path h="289961" w="1377835">
                  <a:moveTo>
                    <a:pt x="75474" y="0"/>
                  </a:moveTo>
                  <a:lnTo>
                    <a:pt x="1302362" y="0"/>
                  </a:lnTo>
                  <a:cubicBezTo>
                    <a:pt x="1322379" y="0"/>
                    <a:pt x="1341576" y="7952"/>
                    <a:pt x="1355730" y="22106"/>
                  </a:cubicBezTo>
                  <a:cubicBezTo>
                    <a:pt x="1369884" y="36260"/>
                    <a:pt x="1377835" y="55457"/>
                    <a:pt x="1377835" y="75474"/>
                  </a:cubicBezTo>
                  <a:lnTo>
                    <a:pt x="1377835" y="214487"/>
                  </a:lnTo>
                  <a:cubicBezTo>
                    <a:pt x="1377835" y="256170"/>
                    <a:pt x="1344045" y="289961"/>
                    <a:pt x="1302362" y="289961"/>
                  </a:cubicBezTo>
                  <a:lnTo>
                    <a:pt x="75474" y="289961"/>
                  </a:lnTo>
                  <a:cubicBezTo>
                    <a:pt x="33791" y="289961"/>
                    <a:pt x="0" y="256170"/>
                    <a:pt x="0" y="214487"/>
                  </a:cubicBezTo>
                  <a:lnTo>
                    <a:pt x="0" y="75474"/>
                  </a:lnTo>
                  <a:cubicBezTo>
                    <a:pt x="0" y="33791"/>
                    <a:pt x="33791" y="0"/>
                    <a:pt x="75474" y="0"/>
                  </a:cubicBezTo>
                  <a:close/>
                </a:path>
              </a:pathLst>
            </a:custGeom>
            <a:solidFill>
              <a:srgbClr val="B2CEA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77835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Nếu khớp → test pass 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959420" y="1339467"/>
            <a:ext cx="11225955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4.2 Quy trình test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12850" y="2850865"/>
            <a:ext cx="6412867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Quy</a:t>
            </a:r>
            <a:r>
              <a:rPr lang="en-US" b="true" sz="32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trình test diễn ra như sau: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10671" y="317768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4.Testing BLoC với bloc_test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39238" y="4945063"/>
            <a:ext cx="9525" cy="34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1965250" y="4156228"/>
            <a:ext cx="571976" cy="57197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39238" y="6128078"/>
            <a:ext cx="571976" cy="571976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39238" y="4307039"/>
            <a:ext cx="571976" cy="57197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65250" y="7812047"/>
            <a:ext cx="571976" cy="571976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965250" y="6023604"/>
            <a:ext cx="571976" cy="590788"/>
            <a:chOff x="0" y="0"/>
            <a:chExt cx="812800" cy="8395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39532"/>
            </a:xfrm>
            <a:custGeom>
              <a:avLst/>
              <a:gdLst/>
              <a:ahLst/>
              <a:cxnLst/>
              <a:rect r="r" b="b" t="t" l="l"/>
              <a:pathLst>
                <a:path h="839532" w="812800">
                  <a:moveTo>
                    <a:pt x="406400" y="0"/>
                  </a:moveTo>
                  <a:cubicBezTo>
                    <a:pt x="181951" y="0"/>
                    <a:pt x="0" y="187936"/>
                    <a:pt x="0" y="419766"/>
                  </a:cubicBezTo>
                  <a:cubicBezTo>
                    <a:pt x="0" y="651597"/>
                    <a:pt x="181951" y="839532"/>
                    <a:pt x="406400" y="839532"/>
                  </a:cubicBezTo>
                  <a:cubicBezTo>
                    <a:pt x="630849" y="839532"/>
                    <a:pt x="812800" y="651597"/>
                    <a:pt x="812800" y="419766"/>
                  </a:cubicBezTo>
                  <a:cubicBezTo>
                    <a:pt x="812800" y="1879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1081"/>
              <a:ext cx="660400" cy="729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7637" y="2941208"/>
            <a:ext cx="1332195" cy="411769"/>
          </a:xfrm>
          <a:custGeom>
            <a:avLst/>
            <a:gdLst/>
            <a:ahLst/>
            <a:cxnLst/>
            <a:rect r="r" b="b" t="t" l="l"/>
            <a:pathLst>
              <a:path h="411769" w="1332195">
                <a:moveTo>
                  <a:pt x="0" y="0"/>
                </a:moveTo>
                <a:lnTo>
                  <a:pt x="1332195" y="0"/>
                </a:lnTo>
                <a:lnTo>
                  <a:pt x="1332195" y="411770"/>
                </a:lnTo>
                <a:lnTo>
                  <a:pt x="0" y="41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017042" y="6964539"/>
            <a:ext cx="4829892" cy="5894830"/>
            <a:chOff x="0" y="0"/>
            <a:chExt cx="1272070" cy="15525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59420" y="3989684"/>
            <a:ext cx="6465806" cy="1100945"/>
            <a:chOff x="0" y="0"/>
            <a:chExt cx="1702928" cy="2899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2928" cy="289961"/>
            </a:xfrm>
            <a:custGeom>
              <a:avLst/>
              <a:gdLst/>
              <a:ahLst/>
              <a:cxnLst/>
              <a:rect r="r" b="b" t="t" l="l"/>
              <a:pathLst>
                <a:path h="289961" w="1702928">
                  <a:moveTo>
                    <a:pt x="61066" y="0"/>
                  </a:moveTo>
                  <a:lnTo>
                    <a:pt x="1641863" y="0"/>
                  </a:lnTo>
                  <a:cubicBezTo>
                    <a:pt x="1675588" y="0"/>
                    <a:pt x="1702928" y="27340"/>
                    <a:pt x="1702928" y="61066"/>
                  </a:cubicBezTo>
                  <a:lnTo>
                    <a:pt x="1702928" y="228895"/>
                  </a:lnTo>
                  <a:cubicBezTo>
                    <a:pt x="1702928" y="245091"/>
                    <a:pt x="1696495" y="260623"/>
                    <a:pt x="1685042" y="272075"/>
                  </a:cubicBezTo>
                  <a:cubicBezTo>
                    <a:pt x="1673590" y="283527"/>
                    <a:pt x="1658058" y="289961"/>
                    <a:pt x="1641863" y="289961"/>
                  </a:cubicBezTo>
                  <a:lnTo>
                    <a:pt x="61066" y="289961"/>
                  </a:lnTo>
                  <a:cubicBezTo>
                    <a:pt x="27340" y="289961"/>
                    <a:pt x="0" y="262621"/>
                    <a:pt x="0" y="228895"/>
                  </a:cubicBezTo>
                  <a:lnTo>
                    <a:pt x="0" y="61066"/>
                  </a:lnTo>
                  <a:cubicBezTo>
                    <a:pt x="0" y="27340"/>
                    <a:pt x="27340" y="0"/>
                    <a:pt x="6106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02928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3131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00:02 +2: All tests passed!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59420" y="6700055"/>
            <a:ext cx="6465806" cy="1100945"/>
            <a:chOff x="0" y="0"/>
            <a:chExt cx="1702928" cy="2899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2928" cy="289961"/>
            </a:xfrm>
            <a:custGeom>
              <a:avLst/>
              <a:gdLst/>
              <a:ahLst/>
              <a:cxnLst/>
              <a:rect r="r" b="b" t="t" l="l"/>
              <a:pathLst>
                <a:path h="289961" w="1702928">
                  <a:moveTo>
                    <a:pt x="61066" y="0"/>
                  </a:moveTo>
                  <a:lnTo>
                    <a:pt x="1641863" y="0"/>
                  </a:lnTo>
                  <a:cubicBezTo>
                    <a:pt x="1675588" y="0"/>
                    <a:pt x="1702928" y="27340"/>
                    <a:pt x="1702928" y="61066"/>
                  </a:cubicBezTo>
                  <a:lnTo>
                    <a:pt x="1702928" y="228895"/>
                  </a:lnTo>
                  <a:cubicBezTo>
                    <a:pt x="1702928" y="245091"/>
                    <a:pt x="1696495" y="260623"/>
                    <a:pt x="1685042" y="272075"/>
                  </a:cubicBezTo>
                  <a:cubicBezTo>
                    <a:pt x="1673590" y="283527"/>
                    <a:pt x="1658058" y="289961"/>
                    <a:pt x="1641863" y="289961"/>
                  </a:cubicBezTo>
                  <a:lnTo>
                    <a:pt x="61066" y="289961"/>
                  </a:lnTo>
                  <a:cubicBezTo>
                    <a:pt x="27340" y="289961"/>
                    <a:pt x="0" y="262621"/>
                    <a:pt x="0" y="228895"/>
                  </a:cubicBezTo>
                  <a:lnTo>
                    <a:pt x="0" y="61066"/>
                  </a:lnTo>
                  <a:cubicBezTo>
                    <a:pt x="0" y="27340"/>
                    <a:pt x="27340" y="0"/>
                    <a:pt x="6106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702928" cy="34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3131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Expected: [1]</a:t>
              </a:r>
            </a:p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FF3131"/>
                  </a:solidFill>
                  <a:latin typeface="DejaVu Serif Bold"/>
                  <a:ea typeface="DejaVu Serif Bold"/>
                  <a:cs typeface="DejaVu Serif Bold"/>
                  <a:sym typeface="DejaVu Serif Bold"/>
                </a:rPr>
                <a:t>Actual:   [0]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959420" y="1339467"/>
            <a:ext cx="11225955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0"/>
              </a:lnSpc>
            </a:pPr>
            <a:r>
              <a:rPr lang="en-US" sz="50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4.2 Quy trình test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65990" y="2656979"/>
            <a:ext cx="8554178" cy="56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Nếu logic</a:t>
            </a:r>
            <a:r>
              <a:rPr lang="en-US" b="true" sz="328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đúng, kết quả sẽ như sau: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10671" y="317768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4.Testing BLoC với bloc_test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39238" y="4945063"/>
            <a:ext cx="9525" cy="34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965250" y="4156228"/>
            <a:ext cx="571976" cy="57197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D9F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1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700" y="5608637"/>
            <a:ext cx="8554178" cy="56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Còn nếu sai</a:t>
            </a:r>
            <a:r>
              <a:rPr lang="en-US" b="true" sz="328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 Flutter sẽ báo: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9710" y="8515375"/>
            <a:ext cx="9443023" cy="113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→ Giúp dễ dàng phát hiện chỗ sai trong xử</a:t>
            </a:r>
            <a:r>
              <a:rPr lang="en-US" b="true" sz="328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lý event/state.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3219221" y="7183413"/>
            <a:ext cx="4829892" cy="5894830"/>
            <a:chOff x="0" y="0"/>
            <a:chExt cx="1272070" cy="1552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065990" y="2879468"/>
            <a:ext cx="14932574" cy="6868984"/>
          </a:xfrm>
          <a:custGeom>
            <a:avLst/>
            <a:gdLst/>
            <a:ahLst/>
            <a:cxnLst/>
            <a:rect r="r" b="b" t="t" l="l"/>
            <a:pathLst>
              <a:path h="6868984" w="14932574">
                <a:moveTo>
                  <a:pt x="0" y="0"/>
                </a:moveTo>
                <a:lnTo>
                  <a:pt x="14932574" y="0"/>
                </a:lnTo>
                <a:lnTo>
                  <a:pt x="14932574" y="6868983"/>
                </a:lnTo>
                <a:lnTo>
                  <a:pt x="0" y="68689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15545" y="1524625"/>
            <a:ext cx="13702976" cy="61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6"/>
              </a:lnSpc>
            </a:pPr>
            <a:r>
              <a:rPr lang="en-US" sz="38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5.1 Kết quả demo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9274" y="312897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5.Kết quả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3219221" y="7183413"/>
            <a:ext cx="4829892" cy="5894830"/>
            <a:chOff x="0" y="0"/>
            <a:chExt cx="1272070" cy="1552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34684" y="2669890"/>
            <a:ext cx="14664698" cy="7424003"/>
          </a:xfrm>
          <a:custGeom>
            <a:avLst/>
            <a:gdLst/>
            <a:ahLst/>
            <a:cxnLst/>
            <a:rect r="r" b="b" t="t" l="l"/>
            <a:pathLst>
              <a:path h="7424003" w="14664698">
                <a:moveTo>
                  <a:pt x="0" y="0"/>
                </a:moveTo>
                <a:lnTo>
                  <a:pt x="14664698" y="0"/>
                </a:lnTo>
                <a:lnTo>
                  <a:pt x="14664698" y="7424004"/>
                </a:lnTo>
                <a:lnTo>
                  <a:pt x="0" y="74240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15545" y="1524625"/>
            <a:ext cx="13702976" cy="61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6"/>
              </a:lnSpc>
            </a:pPr>
            <a:r>
              <a:rPr lang="en-US" sz="38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5.1 Kết quả demo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9274" y="312897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5.Kết quả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3219221" y="7183413"/>
            <a:ext cx="4829892" cy="5894830"/>
            <a:chOff x="0" y="0"/>
            <a:chExt cx="1272070" cy="1552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34684" y="2669890"/>
            <a:ext cx="14664698" cy="7424003"/>
          </a:xfrm>
          <a:custGeom>
            <a:avLst/>
            <a:gdLst/>
            <a:ahLst/>
            <a:cxnLst/>
            <a:rect r="r" b="b" t="t" l="l"/>
            <a:pathLst>
              <a:path h="7424003" w="14664698">
                <a:moveTo>
                  <a:pt x="0" y="0"/>
                </a:moveTo>
                <a:lnTo>
                  <a:pt x="14664698" y="0"/>
                </a:lnTo>
                <a:lnTo>
                  <a:pt x="14664698" y="7424004"/>
                </a:lnTo>
                <a:lnTo>
                  <a:pt x="0" y="74240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15545" y="1524625"/>
            <a:ext cx="13702976" cy="61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6"/>
              </a:lnSpc>
            </a:pPr>
            <a:r>
              <a:rPr lang="en-US" sz="38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5.1 Kết quả demo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9274" y="312897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5.Kết quả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3293"/>
            <a:ext cx="1524197" cy="152419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10671" y="223050"/>
            <a:ext cx="10140123" cy="770243"/>
            <a:chOff x="0" y="0"/>
            <a:chExt cx="2670650" cy="2028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6030" y="280193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1" y="0"/>
                </a:lnTo>
                <a:lnTo>
                  <a:pt x="665701" y="665701"/>
                </a:lnTo>
                <a:lnTo>
                  <a:pt x="0" y="665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3219221" y="7183413"/>
            <a:ext cx="4829892" cy="5894830"/>
            <a:chOff x="0" y="0"/>
            <a:chExt cx="1272070" cy="1552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0" y="3150806"/>
            <a:ext cx="9144000" cy="4617720"/>
          </a:xfrm>
          <a:custGeom>
            <a:avLst/>
            <a:gdLst/>
            <a:ahLst/>
            <a:cxnLst/>
            <a:rect r="r" b="b" t="t" l="l"/>
            <a:pathLst>
              <a:path h="4617720" w="9144000">
                <a:moveTo>
                  <a:pt x="0" y="0"/>
                </a:moveTo>
                <a:lnTo>
                  <a:pt x="9144000" y="0"/>
                </a:lnTo>
                <a:lnTo>
                  <a:pt x="9144000" y="4617720"/>
                </a:lnTo>
                <a:lnTo>
                  <a:pt x="0" y="46177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3150806"/>
            <a:ext cx="9144000" cy="4617720"/>
          </a:xfrm>
          <a:custGeom>
            <a:avLst/>
            <a:gdLst/>
            <a:ahLst/>
            <a:cxnLst/>
            <a:rect r="r" b="b" t="t" l="l"/>
            <a:pathLst>
              <a:path h="4617720" w="9144000">
                <a:moveTo>
                  <a:pt x="0" y="0"/>
                </a:moveTo>
                <a:lnTo>
                  <a:pt x="9144000" y="0"/>
                </a:lnTo>
                <a:lnTo>
                  <a:pt x="9144000" y="4617720"/>
                </a:lnTo>
                <a:lnTo>
                  <a:pt x="0" y="46177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815545" y="1524625"/>
            <a:ext cx="13702976" cy="61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6"/>
              </a:lnSpc>
            </a:pPr>
            <a:r>
              <a:rPr lang="en-US" sz="3800" b="true">
                <a:solidFill>
                  <a:srgbClr val="0E2F5F"/>
                </a:solidFill>
                <a:latin typeface="Aileron Heavy"/>
                <a:ea typeface="Aileron Heavy"/>
                <a:cs typeface="Aileron Heavy"/>
                <a:sym typeface="Aileron Heavy"/>
              </a:rPr>
              <a:t>5.1 Kết quả demo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9274" y="312897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5.Kết quả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0" y="8263826"/>
            <a:ext cx="8554178" cy="564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Điều khiển thành kênh số 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87568" y="8273351"/>
            <a:ext cx="8554178" cy="56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Tăng volume lên thành 80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10" y="1398991"/>
            <a:ext cx="506280" cy="756905"/>
          </a:xfrm>
          <a:custGeom>
            <a:avLst/>
            <a:gdLst/>
            <a:ahLst/>
            <a:cxnLst/>
            <a:rect r="r" b="b" t="t" l="l"/>
            <a:pathLst>
              <a:path h="756905" w="506280">
                <a:moveTo>
                  <a:pt x="0" y="0"/>
                </a:moveTo>
                <a:lnTo>
                  <a:pt x="506280" y="0"/>
                </a:lnTo>
                <a:lnTo>
                  <a:pt x="506280" y="756905"/>
                </a:lnTo>
                <a:lnTo>
                  <a:pt x="0" y="75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30733" y="628748"/>
            <a:ext cx="10140123" cy="770243"/>
            <a:chOff x="0" y="0"/>
            <a:chExt cx="2670650" cy="2028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70650" cy="202862"/>
            </a:xfrm>
            <a:custGeom>
              <a:avLst/>
              <a:gdLst/>
              <a:ahLst/>
              <a:cxnLst/>
              <a:rect r="r" b="b" t="t" l="l"/>
              <a:pathLst>
                <a:path h="202862" w="2670650">
                  <a:moveTo>
                    <a:pt x="38938" y="0"/>
                  </a:moveTo>
                  <a:lnTo>
                    <a:pt x="2631712" y="0"/>
                  </a:lnTo>
                  <a:cubicBezTo>
                    <a:pt x="2653217" y="0"/>
                    <a:pt x="2670650" y="17433"/>
                    <a:pt x="2670650" y="38938"/>
                  </a:cubicBezTo>
                  <a:lnTo>
                    <a:pt x="2670650" y="163924"/>
                  </a:lnTo>
                  <a:cubicBezTo>
                    <a:pt x="2670650" y="174251"/>
                    <a:pt x="2666547" y="184155"/>
                    <a:pt x="2659245" y="191458"/>
                  </a:cubicBezTo>
                  <a:cubicBezTo>
                    <a:pt x="2651943" y="198760"/>
                    <a:pt x="2642039" y="202862"/>
                    <a:pt x="2631712" y="202862"/>
                  </a:cubicBezTo>
                  <a:lnTo>
                    <a:pt x="38938" y="202862"/>
                  </a:lnTo>
                  <a:cubicBezTo>
                    <a:pt x="17433" y="202862"/>
                    <a:pt x="0" y="185429"/>
                    <a:pt x="0" y="163924"/>
                  </a:cubicBezTo>
                  <a:lnTo>
                    <a:pt x="0" y="38938"/>
                  </a:lnTo>
                  <a:cubicBezTo>
                    <a:pt x="0" y="17433"/>
                    <a:pt x="17433" y="0"/>
                    <a:pt x="38938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670650" cy="250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056093" y="685891"/>
            <a:ext cx="665701" cy="665701"/>
          </a:xfrm>
          <a:custGeom>
            <a:avLst/>
            <a:gdLst/>
            <a:ahLst/>
            <a:cxnLst/>
            <a:rect r="r" b="b" t="t" l="l"/>
            <a:pathLst>
              <a:path h="665701" w="665701">
                <a:moveTo>
                  <a:pt x="0" y="0"/>
                </a:moveTo>
                <a:lnTo>
                  <a:pt x="665700" y="0"/>
                </a:lnTo>
                <a:lnTo>
                  <a:pt x="665700" y="665700"/>
                </a:lnTo>
                <a:lnTo>
                  <a:pt x="0" y="665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62728" y="-2533054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3219221" y="7183413"/>
            <a:ext cx="4829892" cy="5894830"/>
            <a:chOff x="0" y="0"/>
            <a:chExt cx="1272070" cy="1552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aphicFrame>
        <p:nvGraphicFramePr>
          <p:cNvPr name="Object 11" id="11"/>
          <p:cNvGraphicFramePr/>
          <p:nvPr/>
        </p:nvGraphicFramePr>
        <p:xfrm>
          <a:off x="4429125" y="1869305"/>
          <a:ext cx="9429750" cy="6548390"/>
        </p:xfrm>
        <a:graphic>
          <a:graphicData uri="http://schemas.openxmlformats.org/presentationml/2006/ole">
            <p:oleObj imgW="11315700" imgH="84201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3979336" y="718594"/>
            <a:ext cx="100915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BẢNG PHÂN CÔNG CÔNG VIỆC TRONG NHÓM: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70689" y="3176727"/>
            <a:ext cx="9346622" cy="389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58"/>
              </a:lnSpc>
            </a:pPr>
            <a:r>
              <a:rPr lang="en-US" b="true" sz="16848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THANK YOU!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249048" y="7616640"/>
            <a:ext cx="3789904" cy="665701"/>
            <a:chOff x="0" y="0"/>
            <a:chExt cx="998164" cy="1753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8164" cy="175329"/>
            </a:xfrm>
            <a:custGeom>
              <a:avLst/>
              <a:gdLst/>
              <a:ahLst/>
              <a:cxnLst/>
              <a:rect r="r" b="b" t="t" l="l"/>
              <a:pathLst>
                <a:path h="175329" w="998164">
                  <a:moveTo>
                    <a:pt x="87664" y="0"/>
                  </a:moveTo>
                  <a:lnTo>
                    <a:pt x="910500" y="0"/>
                  </a:lnTo>
                  <a:cubicBezTo>
                    <a:pt x="958915" y="0"/>
                    <a:pt x="998164" y="39249"/>
                    <a:pt x="998164" y="87664"/>
                  </a:cubicBezTo>
                  <a:lnTo>
                    <a:pt x="998164" y="87664"/>
                  </a:lnTo>
                  <a:cubicBezTo>
                    <a:pt x="998164" y="110914"/>
                    <a:pt x="988928" y="133212"/>
                    <a:pt x="972488" y="149652"/>
                  </a:cubicBezTo>
                  <a:cubicBezTo>
                    <a:pt x="956048" y="166093"/>
                    <a:pt x="933750" y="175329"/>
                    <a:pt x="910500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98164" cy="222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511163" y="7791225"/>
            <a:ext cx="305535" cy="302202"/>
          </a:xfrm>
          <a:custGeom>
            <a:avLst/>
            <a:gdLst/>
            <a:ahLst/>
            <a:cxnLst/>
            <a:rect r="r" b="b" t="t" l="l"/>
            <a:pathLst>
              <a:path h="302202" w="305535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91226" y="7772175"/>
            <a:ext cx="3009626" cy="3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3"/>
              </a:lnSpc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www.reallygreatsite.com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424608" y="-1072654"/>
            <a:ext cx="11438784" cy="2839490"/>
            <a:chOff x="0" y="0"/>
            <a:chExt cx="3012684" cy="7478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12684" cy="747849"/>
            </a:xfrm>
            <a:custGeom>
              <a:avLst/>
              <a:gdLst/>
              <a:ahLst/>
              <a:cxnLst/>
              <a:rect r="r" b="b" t="t" l="l"/>
              <a:pathLst>
                <a:path h="747849" w="3012684">
                  <a:moveTo>
                    <a:pt x="39932" y="0"/>
                  </a:moveTo>
                  <a:lnTo>
                    <a:pt x="2972752" y="0"/>
                  </a:lnTo>
                  <a:cubicBezTo>
                    <a:pt x="2994806" y="0"/>
                    <a:pt x="3012684" y="17878"/>
                    <a:pt x="3012684" y="39932"/>
                  </a:cubicBezTo>
                  <a:lnTo>
                    <a:pt x="3012684" y="707917"/>
                  </a:lnTo>
                  <a:cubicBezTo>
                    <a:pt x="3012684" y="729971"/>
                    <a:pt x="2994806" y="747849"/>
                    <a:pt x="2972752" y="747849"/>
                  </a:cubicBezTo>
                  <a:lnTo>
                    <a:pt x="39932" y="747849"/>
                  </a:lnTo>
                  <a:cubicBezTo>
                    <a:pt x="17878" y="747849"/>
                    <a:pt x="0" y="729971"/>
                    <a:pt x="0" y="707917"/>
                  </a:cubicBezTo>
                  <a:lnTo>
                    <a:pt x="0" y="39932"/>
                  </a:lnTo>
                  <a:cubicBezTo>
                    <a:pt x="0" y="17878"/>
                    <a:pt x="17878" y="0"/>
                    <a:pt x="39932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012684" cy="795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95527" y="1028700"/>
            <a:ext cx="1496945" cy="14969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673581" y="1447879"/>
            <a:ext cx="940838" cy="658587"/>
          </a:xfrm>
          <a:custGeom>
            <a:avLst/>
            <a:gdLst/>
            <a:ahLst/>
            <a:cxnLst/>
            <a:rect r="r" b="b" t="t" l="l"/>
            <a:pathLst>
              <a:path h="658587" w="940838">
                <a:moveTo>
                  <a:pt x="0" y="0"/>
                </a:moveTo>
                <a:lnTo>
                  <a:pt x="940838" y="0"/>
                </a:lnTo>
                <a:lnTo>
                  <a:pt x="940838" y="658587"/>
                </a:lnTo>
                <a:lnTo>
                  <a:pt x="0" y="658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424608" y="4750679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0" y="0"/>
                </a:moveTo>
                <a:lnTo>
                  <a:pt x="1519327" y="0"/>
                </a:lnTo>
                <a:lnTo>
                  <a:pt x="1519327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3344065" y="4750679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1519327" y="0"/>
                </a:moveTo>
                <a:lnTo>
                  <a:pt x="0" y="0"/>
                </a:lnTo>
                <a:lnTo>
                  <a:pt x="0" y="469610"/>
                </a:lnTo>
                <a:lnTo>
                  <a:pt x="1519327" y="469610"/>
                </a:lnTo>
                <a:lnTo>
                  <a:pt x="15193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8996715"/>
            <a:ext cx="18288000" cy="1290285"/>
            <a:chOff x="0" y="0"/>
            <a:chExt cx="4816593" cy="3398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6592" cy="339828"/>
            </a:xfrm>
            <a:custGeom>
              <a:avLst/>
              <a:gdLst/>
              <a:ahLst/>
              <a:cxnLst/>
              <a:rect r="r" b="b" t="t" l="l"/>
              <a:pathLst>
                <a:path h="33982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9828"/>
                  </a:lnTo>
                  <a:lnTo>
                    <a:pt x="0" y="339828"/>
                  </a:lnTo>
                  <a:close/>
                </a:path>
              </a:pathLst>
            </a:custGeom>
            <a:solidFill>
              <a:srgbClr val="0E2F5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816593" cy="38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DAG4BFYn-2Y</dc:identifier>
  <dcterms:modified xsi:type="dcterms:W3CDTF">2011-08-01T06:04:30Z</dcterms:modified>
  <cp:revision>1</cp:revision>
  <dc:title>Bản sao của Blue and White Simple The Future Of The Arctic Presentation</dc:title>
</cp:coreProperties>
</file>